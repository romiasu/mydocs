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E6E4F3-0615-CE95-3F6D-B7450C7F3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72AFB6E-D074-6DCE-080F-39C4BA499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E09322-C52F-482E-8020-9C65EA2FF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08F6-213A-498F-9713-B3B2556FBFF2}" type="datetimeFigureOut">
              <a:rPr kumimoji="1" lang="ja-JP" altLang="en-US" smtClean="0"/>
              <a:t>2025/9/28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563218-61D2-160D-97D4-1DE1558CC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0E97C3-4150-A31A-96B6-C1B1803C9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46499-DDF2-4C0B-BE56-D07E07C897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5224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C689FE-854B-912B-D07E-953D852AB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B49267-73E3-F5B3-B051-F5C410636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15AB3E-9390-7668-A334-098D62B3C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08F6-213A-498F-9713-B3B2556FBFF2}" type="datetimeFigureOut">
              <a:rPr kumimoji="1" lang="ja-JP" altLang="en-US" smtClean="0"/>
              <a:t>2025/9/28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0875CB-35CC-7E8C-47BB-A1A8DC1FF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B91A57D-9522-2CDA-6CA7-4085DE8E0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46499-DDF2-4C0B-BE56-D07E07C897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0235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AB281E-80D7-4E25-7627-0E2C11905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36EE92-00CB-8F9E-DD29-851667964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EC2A92-DEDD-0629-5948-E8EEE5673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08F6-213A-498F-9713-B3B2556FBFF2}" type="datetimeFigureOut">
              <a:rPr kumimoji="1" lang="ja-JP" altLang="en-US" smtClean="0"/>
              <a:t>2025/9/28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31EFDC-582E-3805-5EBE-810F59B42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2512B9-A0CF-EF74-5205-DEACB21B5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46499-DDF2-4C0B-BE56-D07E07C897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7656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34BB30-1A3F-4CE9-19D1-E20916FC2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B24F34-A561-0EAE-1993-410A9373E3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AA86870-1E72-D8C9-8E10-8A4C47083B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C50EB43-F837-7D0F-41DF-D4C62E0A2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08F6-213A-498F-9713-B3B2556FBFF2}" type="datetimeFigureOut">
              <a:rPr kumimoji="1" lang="ja-JP" altLang="en-US" smtClean="0"/>
              <a:t>2025/9/28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3975B71-6324-4E3B-AB5D-191177219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9AD891-C868-F003-77E4-26689DECD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46499-DDF2-4C0B-BE56-D07E07C897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5195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54381A-287B-CE98-43F2-5C6D64738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FC008CD-3257-1A46-33BB-B14F76008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BA6405E-AB3B-F9B7-C07F-2A7D7A3545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FE5073A-35C0-D3B6-D2D1-BE00BE6E5E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CF89B79-EDB6-29D7-1121-2DAADB5027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B9D3CD4-4444-5B74-DA3C-667DF818F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08F6-213A-498F-9713-B3B2556FBFF2}" type="datetimeFigureOut">
              <a:rPr kumimoji="1" lang="ja-JP" altLang="en-US" smtClean="0"/>
              <a:t>2025/9/28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244A9A6-0CE5-78DE-A298-4A149D721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AEC118B-12CC-8D56-0EB0-8B34B1871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46499-DDF2-4C0B-BE56-D07E07C897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4721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FB2376-CDB1-80CD-DDA2-9ABE9A2BB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E8F760E-E327-8B94-9619-3E395BA50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08F6-213A-498F-9713-B3B2556FBFF2}" type="datetimeFigureOut">
              <a:rPr kumimoji="1" lang="ja-JP" altLang="en-US" smtClean="0"/>
              <a:t>2025/9/28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D7D7D11-6B81-F54B-FA52-AE37F22A2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0E4A9B4-CE63-2D23-747F-49EAADBDD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46499-DDF2-4C0B-BE56-D07E07C897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6600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5A2F76D-70F9-E8F0-4BBD-27437FE4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08F6-213A-498F-9713-B3B2556FBFF2}" type="datetimeFigureOut">
              <a:rPr kumimoji="1" lang="ja-JP" altLang="en-US" smtClean="0"/>
              <a:t>2025/9/28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CB95083-30A2-EE6C-11AC-94DC1B021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8E34572-C545-1E29-D8F4-901CC2D28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46499-DDF2-4C0B-BE56-D07E07C897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6367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A94556-A313-E414-F5BF-5D590888E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0ECCFC-BC5B-37C2-270D-089699F3A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E2329F4-6EF2-2F99-607C-43945C757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4C9A132-849B-DD35-625A-8A0AC4200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08F6-213A-498F-9713-B3B2556FBFF2}" type="datetimeFigureOut">
              <a:rPr kumimoji="1" lang="ja-JP" altLang="en-US" smtClean="0"/>
              <a:t>2025/9/28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B4B791F-2EBD-8E51-AFFF-3D96C52CE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BFADC24-670B-8CC1-B5A6-907F4743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46499-DDF2-4C0B-BE56-D07E07C897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3615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BA429D-2521-3089-34D5-949B2B2ED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55982B8-6AD1-A006-C1C7-06EFB2D22D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8A819D3-D435-BF77-C505-3A53D890A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3AFE444-AC05-A273-E214-0D3A916DB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08F6-213A-498F-9713-B3B2556FBFF2}" type="datetimeFigureOut">
              <a:rPr kumimoji="1" lang="ja-JP" altLang="en-US" smtClean="0"/>
              <a:t>2025/9/28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04FE9A3-1419-6E7C-F566-4F22557EF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C38A58A-40B9-A0F2-E44C-A19F36888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46499-DDF2-4C0B-BE56-D07E07C897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6124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D912B0-A999-630A-2554-CE2BB6B7D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16FD2E4-CD7C-E084-2C3E-5D5B8C0B1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61F64F-0959-2054-52A5-DA6594635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08F6-213A-498F-9713-B3B2556FBFF2}" type="datetimeFigureOut">
              <a:rPr kumimoji="1" lang="ja-JP" altLang="en-US" smtClean="0"/>
              <a:t>2025/9/28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9EEF23-BD5D-0748-F522-9B0D79373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83E4EF-2782-E085-17D7-DDF4BB8C6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46499-DDF2-4C0B-BE56-D07E07C897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0009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BA2606A-5DA5-CB74-67EC-F5B0D6A0F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B79DEB9-88B8-50F2-3D13-5325FD5A5A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6299DB-7A81-27A0-78CE-9E7AE846B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808F6-213A-498F-9713-B3B2556FBFF2}" type="datetimeFigureOut">
              <a:rPr kumimoji="1" lang="ja-JP" altLang="en-US" smtClean="0"/>
              <a:t>2025/9/28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EB0F5D-81F0-E451-2524-171F7563B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E7CF91-1271-AB9F-B597-A14576F83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46499-DDF2-4C0B-BE56-D07E07C897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1981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E2AF03A-5FB3-6668-8D7A-D92654D8B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3F8828-71C7-88E2-C07D-75F4C29D4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043E7E-FA15-102A-2AC9-AA76EC9F05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808F6-213A-498F-9713-B3B2556FBFF2}" type="datetimeFigureOut">
              <a:rPr kumimoji="1" lang="ja-JP" altLang="en-US" smtClean="0"/>
              <a:t>2025/9/28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793FFA-E345-E06D-A213-0D0B28E2E1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A484E6-072A-58DB-63E7-4D21A257B6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46499-DDF2-4C0B-BE56-D07E07C897B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682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AE8324-8E38-C08F-1211-C9F5609120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93BED99-89C1-9C7F-4858-77CCB4C8FF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6546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A4AD6EAE-236C-D6BD-30E7-E754EDB1996B}"/>
              </a:ext>
            </a:extLst>
          </p:cNvPr>
          <p:cNvGrpSpPr/>
          <p:nvPr/>
        </p:nvGrpSpPr>
        <p:grpSpPr>
          <a:xfrm>
            <a:off x="818866" y="1132764"/>
            <a:ext cx="8584441" cy="4964584"/>
            <a:chOff x="818866" y="1132764"/>
            <a:chExt cx="8584441" cy="4964584"/>
          </a:xfrm>
        </p:grpSpPr>
        <p:cxnSp>
          <p:nvCxnSpPr>
            <p:cNvPr id="3" name="直線矢印コネクタ 2">
              <a:extLst>
                <a:ext uri="{FF2B5EF4-FFF2-40B4-BE49-F238E27FC236}">
                  <a16:creationId xmlns:a16="http://schemas.microsoft.com/office/drawing/2014/main" id="{8ADA6372-82DA-A5B2-D3DA-1829676F77A0}"/>
                </a:ext>
              </a:extLst>
            </p:cNvPr>
            <p:cNvCxnSpPr/>
            <p:nvPr/>
          </p:nvCxnSpPr>
          <p:spPr>
            <a:xfrm flipV="1">
              <a:off x="1037230" y="1228299"/>
              <a:ext cx="0" cy="46129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直線矢印コネクタ 4">
              <a:extLst>
                <a:ext uri="{FF2B5EF4-FFF2-40B4-BE49-F238E27FC236}">
                  <a16:creationId xmlns:a16="http://schemas.microsoft.com/office/drawing/2014/main" id="{6CE99F43-8AB7-C5B2-28E9-3CC926ED63FC}"/>
                </a:ext>
              </a:extLst>
            </p:cNvPr>
            <p:cNvCxnSpPr/>
            <p:nvPr/>
          </p:nvCxnSpPr>
          <p:spPr>
            <a:xfrm>
              <a:off x="818866" y="5459104"/>
              <a:ext cx="858444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6E25D3B0-F121-76F3-A5F1-1DE603727185}"/>
                </a:ext>
              </a:extLst>
            </p:cNvPr>
            <p:cNvSpPr txBox="1"/>
            <p:nvPr/>
          </p:nvSpPr>
          <p:spPr>
            <a:xfrm>
              <a:off x="1037230" y="1228299"/>
              <a:ext cx="11079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完了する</a:t>
              </a:r>
              <a:endParaRPr kumimoji="1" lang="en-US" altLang="ja-JP" dirty="0"/>
            </a:p>
            <a:p>
              <a:r>
                <a:rPr kumimoji="1" lang="ja-JP" altLang="en-US" dirty="0"/>
                <a:t>確率</a:t>
              </a: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2851928A-FDC7-EA0B-C7A0-4355CEEDBA09}"/>
                </a:ext>
              </a:extLst>
            </p:cNvPr>
            <p:cNvSpPr txBox="1"/>
            <p:nvPr/>
          </p:nvSpPr>
          <p:spPr>
            <a:xfrm>
              <a:off x="8639033" y="5471910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時間</a:t>
              </a:r>
            </a:p>
          </p:txBody>
        </p:sp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228BBA23-C116-2896-0E18-145379735BC2}"/>
                </a:ext>
              </a:extLst>
            </p:cNvPr>
            <p:cNvSpPr/>
            <p:nvPr/>
          </p:nvSpPr>
          <p:spPr>
            <a:xfrm>
              <a:off x="1487606" y="1460242"/>
              <a:ext cx="7533564" cy="3998862"/>
            </a:xfrm>
            <a:custGeom>
              <a:avLst/>
              <a:gdLst>
                <a:gd name="connsiteX0" fmla="*/ 0 w 7560860"/>
                <a:gd name="connsiteY0" fmla="*/ 4000006 h 4000006"/>
                <a:gd name="connsiteX1" fmla="*/ 777922 w 7560860"/>
                <a:gd name="connsiteY1" fmla="*/ 2894538 h 4000006"/>
                <a:gd name="connsiteX2" fmla="*/ 1637731 w 7560860"/>
                <a:gd name="connsiteY2" fmla="*/ 1212 h 4000006"/>
                <a:gd name="connsiteX3" fmla="*/ 3207224 w 7560860"/>
                <a:gd name="connsiteY3" fmla="*/ 3263027 h 4000006"/>
                <a:gd name="connsiteX4" fmla="*/ 7560860 w 7560860"/>
                <a:gd name="connsiteY4" fmla="*/ 3918120 h 4000006"/>
                <a:gd name="connsiteX0" fmla="*/ 0 w 7560860"/>
                <a:gd name="connsiteY0" fmla="*/ 3999553 h 3999553"/>
                <a:gd name="connsiteX1" fmla="*/ 777922 w 7560860"/>
                <a:gd name="connsiteY1" fmla="*/ 2894085 h 3999553"/>
                <a:gd name="connsiteX2" fmla="*/ 1637731 w 7560860"/>
                <a:gd name="connsiteY2" fmla="*/ 759 h 3999553"/>
                <a:gd name="connsiteX3" fmla="*/ 2975212 w 7560860"/>
                <a:gd name="connsiteY3" fmla="*/ 2621130 h 3999553"/>
                <a:gd name="connsiteX4" fmla="*/ 7560860 w 7560860"/>
                <a:gd name="connsiteY4" fmla="*/ 3917667 h 3999553"/>
                <a:gd name="connsiteX0" fmla="*/ 0 w 7560860"/>
                <a:gd name="connsiteY0" fmla="*/ 3998859 h 3998859"/>
                <a:gd name="connsiteX1" fmla="*/ 777922 w 7560860"/>
                <a:gd name="connsiteY1" fmla="*/ 2893391 h 3998859"/>
                <a:gd name="connsiteX2" fmla="*/ 1637731 w 7560860"/>
                <a:gd name="connsiteY2" fmla="*/ 65 h 3998859"/>
                <a:gd name="connsiteX3" fmla="*/ 2920621 w 7560860"/>
                <a:gd name="connsiteY3" fmla="*/ 2811505 h 3998859"/>
                <a:gd name="connsiteX4" fmla="*/ 7560860 w 7560860"/>
                <a:gd name="connsiteY4" fmla="*/ 3916973 h 3998859"/>
                <a:gd name="connsiteX0" fmla="*/ 0 w 7560860"/>
                <a:gd name="connsiteY0" fmla="*/ 3998862 h 3998862"/>
                <a:gd name="connsiteX1" fmla="*/ 777922 w 7560860"/>
                <a:gd name="connsiteY1" fmla="*/ 2893394 h 3998862"/>
                <a:gd name="connsiteX2" fmla="*/ 1637731 w 7560860"/>
                <a:gd name="connsiteY2" fmla="*/ 68 h 3998862"/>
                <a:gd name="connsiteX3" fmla="*/ 2920621 w 7560860"/>
                <a:gd name="connsiteY3" fmla="*/ 2811508 h 3998862"/>
                <a:gd name="connsiteX4" fmla="*/ 7560860 w 7560860"/>
                <a:gd name="connsiteY4" fmla="*/ 3916976 h 3998862"/>
                <a:gd name="connsiteX0" fmla="*/ 0 w 7560860"/>
                <a:gd name="connsiteY0" fmla="*/ 3998862 h 3998862"/>
                <a:gd name="connsiteX1" fmla="*/ 777922 w 7560860"/>
                <a:gd name="connsiteY1" fmla="*/ 2893394 h 3998862"/>
                <a:gd name="connsiteX2" fmla="*/ 1637731 w 7560860"/>
                <a:gd name="connsiteY2" fmla="*/ 68 h 3998862"/>
                <a:gd name="connsiteX3" fmla="*/ 2920621 w 7560860"/>
                <a:gd name="connsiteY3" fmla="*/ 2811508 h 3998862"/>
                <a:gd name="connsiteX4" fmla="*/ 7560860 w 7560860"/>
                <a:gd name="connsiteY4" fmla="*/ 3916976 h 3998862"/>
                <a:gd name="connsiteX0" fmla="*/ 0 w 7533564"/>
                <a:gd name="connsiteY0" fmla="*/ 3998862 h 3998862"/>
                <a:gd name="connsiteX1" fmla="*/ 777922 w 7533564"/>
                <a:gd name="connsiteY1" fmla="*/ 2893394 h 3998862"/>
                <a:gd name="connsiteX2" fmla="*/ 1637731 w 7533564"/>
                <a:gd name="connsiteY2" fmla="*/ 68 h 3998862"/>
                <a:gd name="connsiteX3" fmla="*/ 2920621 w 7533564"/>
                <a:gd name="connsiteY3" fmla="*/ 2811508 h 3998862"/>
                <a:gd name="connsiteX4" fmla="*/ 7533564 w 7533564"/>
                <a:gd name="connsiteY4" fmla="*/ 3753203 h 3998862"/>
                <a:gd name="connsiteX0" fmla="*/ 0 w 7533564"/>
                <a:gd name="connsiteY0" fmla="*/ 3998862 h 3998862"/>
                <a:gd name="connsiteX1" fmla="*/ 777922 w 7533564"/>
                <a:gd name="connsiteY1" fmla="*/ 2893394 h 3998862"/>
                <a:gd name="connsiteX2" fmla="*/ 1637731 w 7533564"/>
                <a:gd name="connsiteY2" fmla="*/ 68 h 3998862"/>
                <a:gd name="connsiteX3" fmla="*/ 2920621 w 7533564"/>
                <a:gd name="connsiteY3" fmla="*/ 2811508 h 3998862"/>
                <a:gd name="connsiteX4" fmla="*/ 7533564 w 7533564"/>
                <a:gd name="connsiteY4" fmla="*/ 3807794 h 3998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33564" h="3998862">
                  <a:moveTo>
                    <a:pt x="0" y="3998862"/>
                  </a:moveTo>
                  <a:cubicBezTo>
                    <a:pt x="252483" y="3779361"/>
                    <a:pt x="504967" y="3559860"/>
                    <a:pt x="777922" y="2893394"/>
                  </a:cubicBezTo>
                  <a:cubicBezTo>
                    <a:pt x="1050877" y="2226928"/>
                    <a:pt x="1280615" y="13716"/>
                    <a:pt x="1637731" y="68"/>
                  </a:cubicBezTo>
                  <a:cubicBezTo>
                    <a:pt x="1994847" y="-13580"/>
                    <a:pt x="2069910" y="2022213"/>
                    <a:pt x="2920621" y="2811508"/>
                  </a:cubicBezTo>
                  <a:cubicBezTo>
                    <a:pt x="3812274" y="3628099"/>
                    <a:pt x="5850340" y="3806656"/>
                    <a:pt x="7533564" y="3807794"/>
                  </a:cubicBezTo>
                </a:path>
              </a:pathLst>
            </a:cu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D142F42D-8404-E5A8-6BFC-20C0F1706D70}"/>
                </a:ext>
              </a:extLst>
            </p:cNvPr>
            <p:cNvCxnSpPr/>
            <p:nvPr/>
          </p:nvCxnSpPr>
          <p:spPr>
            <a:xfrm>
              <a:off x="4135270" y="1132764"/>
              <a:ext cx="0" cy="4899546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9F6B0651-156B-7887-284D-98BA1C175CAC}"/>
                </a:ext>
              </a:extLst>
            </p:cNvPr>
            <p:cNvSpPr txBox="1"/>
            <p:nvPr/>
          </p:nvSpPr>
          <p:spPr>
            <a:xfrm>
              <a:off x="2733011" y="4938839"/>
              <a:ext cx="625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50%</a:t>
              </a:r>
              <a:endParaRPr kumimoji="1" lang="ja-JP" altLang="en-US" dirty="0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4539E8AA-5DF6-3B07-E465-069A748378F1}"/>
                </a:ext>
              </a:extLst>
            </p:cNvPr>
            <p:cNvSpPr txBox="1"/>
            <p:nvPr/>
          </p:nvSpPr>
          <p:spPr>
            <a:xfrm>
              <a:off x="4628896" y="4926033"/>
              <a:ext cx="625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dirty="0"/>
                <a:t>30%</a:t>
              </a:r>
              <a:endParaRPr kumimoji="1" lang="ja-JP" altLang="en-US" dirty="0"/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FCFFC60C-DC75-6E77-5CD9-D7492C6CBA6D}"/>
                </a:ext>
              </a:extLst>
            </p:cNvPr>
            <p:cNvSpPr txBox="1"/>
            <p:nvPr/>
          </p:nvSpPr>
          <p:spPr>
            <a:xfrm>
              <a:off x="4135270" y="3377248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/>
                <a:t>中央値</a:t>
              </a:r>
              <a:endParaRPr kumimoji="1" lang="ja-JP" altLang="en-US" dirty="0"/>
            </a:p>
          </p:txBody>
        </p: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8F2E3E96-B13F-3F8E-90F0-167B3177CB15}"/>
                </a:ext>
              </a:extLst>
            </p:cNvPr>
            <p:cNvCxnSpPr/>
            <p:nvPr/>
          </p:nvCxnSpPr>
          <p:spPr>
            <a:xfrm>
              <a:off x="7481251" y="1132764"/>
              <a:ext cx="0" cy="4899546"/>
            </a:xfrm>
            <a:prstGeom prst="line">
              <a:avLst/>
            </a:prstGeom>
            <a:ln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44895481-D40C-0C14-C9B9-FB0BF0F5B449}"/>
                </a:ext>
              </a:extLst>
            </p:cNvPr>
            <p:cNvSpPr txBox="1"/>
            <p:nvPr/>
          </p:nvSpPr>
          <p:spPr>
            <a:xfrm>
              <a:off x="4988261" y="1551464"/>
              <a:ext cx="24929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/>
                <a:t>計画段階で設定される</a:t>
              </a:r>
              <a:endParaRPr lang="en-US" altLang="ja-JP" dirty="0"/>
            </a:p>
            <a:p>
              <a:r>
                <a:rPr lang="ja-JP" altLang="en-US" dirty="0"/>
                <a:t>ことが多い期限</a:t>
              </a:r>
              <a:endParaRPr kumimoji="1" lang="ja-JP" altLang="en-US" dirty="0"/>
            </a:p>
          </p:txBody>
        </p: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D626BCE2-B88F-2147-88EB-94547A78834A}"/>
                </a:ext>
              </a:extLst>
            </p:cNvPr>
            <p:cNvCxnSpPr/>
            <p:nvPr/>
          </p:nvCxnSpPr>
          <p:spPr>
            <a:xfrm>
              <a:off x="4135270" y="5656576"/>
              <a:ext cx="3345981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21FC1EDB-1D3F-D78F-40A5-BB69FDE179EC}"/>
                </a:ext>
              </a:extLst>
            </p:cNvPr>
            <p:cNvSpPr txBox="1"/>
            <p:nvPr/>
          </p:nvSpPr>
          <p:spPr>
            <a:xfrm>
              <a:off x="5111086" y="5728016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/>
                <a:t>セーフティ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9187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5DCB632B-C490-EE82-2ECE-6BAE650B098F}"/>
              </a:ext>
            </a:extLst>
          </p:cNvPr>
          <p:cNvGrpSpPr/>
          <p:nvPr/>
        </p:nvGrpSpPr>
        <p:grpSpPr>
          <a:xfrm>
            <a:off x="614149" y="514010"/>
            <a:ext cx="9870699" cy="4115993"/>
            <a:chOff x="614149" y="514010"/>
            <a:chExt cx="9870699" cy="4115993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1167E53A-3048-BB2F-A6A1-B06EE146291E}"/>
                </a:ext>
              </a:extLst>
            </p:cNvPr>
            <p:cNvSpPr/>
            <p:nvPr/>
          </p:nvSpPr>
          <p:spPr>
            <a:xfrm>
              <a:off x="928048" y="1337481"/>
              <a:ext cx="2019868" cy="12010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ysClr val="windowText" lastClr="000000"/>
                  </a:solidFill>
                </a:rPr>
                <a:t>建物を建てる</a:t>
              </a:r>
              <a:endParaRPr kumimoji="1" lang="en-US" altLang="ja-JP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altLang="ja-JP" dirty="0">
                  <a:solidFill>
                    <a:sysClr val="windowText" lastClr="000000"/>
                  </a:solidFill>
                </a:rPr>
                <a:t>90</a:t>
              </a:r>
              <a:r>
                <a:rPr lang="ja-JP" altLang="en-US" dirty="0">
                  <a:solidFill>
                    <a:sysClr val="windowText" lastClr="000000"/>
                  </a:solidFill>
                </a:rPr>
                <a:t>日</a:t>
              </a:r>
              <a:endParaRPr kumimoji="1" lang="ja-JP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D1F98E89-6F8F-7C7E-6A31-7016F4707714}"/>
                </a:ext>
              </a:extLst>
            </p:cNvPr>
            <p:cNvSpPr/>
            <p:nvPr/>
          </p:nvSpPr>
          <p:spPr>
            <a:xfrm>
              <a:off x="928048" y="3429000"/>
              <a:ext cx="2019868" cy="12010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dirty="0">
                  <a:solidFill>
                    <a:sysClr val="windowText" lastClr="000000"/>
                  </a:solidFill>
                </a:rPr>
                <a:t>機械メーカーを</a:t>
              </a:r>
              <a:endParaRPr lang="en-US" altLang="ja-JP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ja-JP" altLang="en-US" dirty="0">
                  <a:solidFill>
                    <a:sysClr val="windowText" lastClr="000000"/>
                  </a:solidFill>
                </a:rPr>
                <a:t>選ぶ</a:t>
              </a:r>
              <a:endParaRPr kumimoji="1" lang="en-US" altLang="ja-JP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altLang="ja-JP" dirty="0">
                  <a:solidFill>
                    <a:sysClr val="windowText" lastClr="000000"/>
                  </a:solidFill>
                </a:rPr>
                <a:t>15</a:t>
              </a:r>
              <a:r>
                <a:rPr lang="ja-JP" altLang="en-US" dirty="0">
                  <a:solidFill>
                    <a:sysClr val="windowText" lastClr="000000"/>
                  </a:solidFill>
                </a:rPr>
                <a:t>日</a:t>
              </a:r>
              <a:endParaRPr kumimoji="1" lang="ja-JP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5C73F143-2E76-2755-FF60-F435ECD1DF5B}"/>
                </a:ext>
              </a:extLst>
            </p:cNvPr>
            <p:cNvSpPr/>
            <p:nvPr/>
          </p:nvSpPr>
          <p:spPr>
            <a:xfrm>
              <a:off x="4342263" y="1337481"/>
              <a:ext cx="2019868" cy="12010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ysClr val="windowText" lastClr="000000"/>
                  </a:solidFill>
                </a:rPr>
                <a:t>建物を操業可能な状態にする</a:t>
              </a:r>
              <a:endParaRPr kumimoji="1" lang="en-US" altLang="ja-JP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altLang="ja-JP" dirty="0">
                  <a:solidFill>
                    <a:sysClr val="windowText" lastClr="000000"/>
                  </a:solidFill>
                </a:rPr>
                <a:t>30</a:t>
              </a:r>
              <a:r>
                <a:rPr lang="ja-JP" altLang="en-US" dirty="0">
                  <a:solidFill>
                    <a:sysClr val="windowText" lastClr="000000"/>
                  </a:solidFill>
                </a:rPr>
                <a:t>日</a:t>
              </a:r>
              <a:endParaRPr kumimoji="1" lang="ja-JP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31842536-B785-626D-5E00-ACA685B2180A}"/>
                </a:ext>
              </a:extLst>
            </p:cNvPr>
            <p:cNvSpPr/>
            <p:nvPr/>
          </p:nvSpPr>
          <p:spPr>
            <a:xfrm>
              <a:off x="4342263" y="3428999"/>
              <a:ext cx="2019868" cy="12010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dirty="0">
                  <a:solidFill>
                    <a:sysClr val="windowText" lastClr="000000"/>
                  </a:solidFill>
                </a:rPr>
                <a:t>機械を製作する</a:t>
              </a:r>
              <a:endParaRPr kumimoji="1" lang="en-US" altLang="ja-JP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altLang="ja-JP" dirty="0">
                  <a:solidFill>
                    <a:sysClr val="windowText" lastClr="000000"/>
                  </a:solidFill>
                </a:rPr>
                <a:t>90</a:t>
              </a:r>
              <a:r>
                <a:rPr lang="ja-JP" altLang="en-US" dirty="0">
                  <a:solidFill>
                    <a:sysClr val="windowText" lastClr="000000"/>
                  </a:solidFill>
                </a:rPr>
                <a:t>日</a:t>
              </a:r>
              <a:endParaRPr kumimoji="1" lang="ja-JP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4C030DF6-375D-798A-53FB-CADC819D0DA5}"/>
                </a:ext>
              </a:extLst>
            </p:cNvPr>
            <p:cNvSpPr/>
            <p:nvPr/>
          </p:nvSpPr>
          <p:spPr>
            <a:xfrm>
              <a:off x="7756478" y="2376986"/>
              <a:ext cx="2019868" cy="12010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dirty="0">
                  <a:solidFill>
                    <a:sysClr val="windowText" lastClr="000000"/>
                  </a:solidFill>
                </a:rPr>
                <a:t>機械を設置する</a:t>
              </a:r>
              <a:endParaRPr kumimoji="1" lang="en-US" altLang="ja-JP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altLang="ja-JP" dirty="0">
                  <a:solidFill>
                    <a:sysClr val="windowText" lastClr="000000"/>
                  </a:solidFill>
                </a:rPr>
                <a:t>90</a:t>
              </a:r>
              <a:r>
                <a:rPr lang="ja-JP" altLang="en-US" dirty="0">
                  <a:solidFill>
                    <a:sysClr val="windowText" lastClr="000000"/>
                  </a:solidFill>
                </a:rPr>
                <a:t>日</a:t>
              </a:r>
              <a:endParaRPr kumimoji="1" lang="ja-JP" altLang="en-US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3D7D6C18-56F6-8073-6D6E-ADB7462F1108}"/>
                </a:ext>
              </a:extLst>
            </p:cNvPr>
            <p:cNvCxnSpPr>
              <a:stCxn id="2" idx="3"/>
              <a:endCxn id="4" idx="1"/>
            </p:cNvCxnSpPr>
            <p:nvPr/>
          </p:nvCxnSpPr>
          <p:spPr>
            <a:xfrm>
              <a:off x="2947916" y="1937983"/>
              <a:ext cx="139434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線矢印コネクタ 9">
              <a:extLst>
                <a:ext uri="{FF2B5EF4-FFF2-40B4-BE49-F238E27FC236}">
                  <a16:creationId xmlns:a16="http://schemas.microsoft.com/office/drawing/2014/main" id="{C4748FA1-A8A4-F9FD-1584-9B2A09F2D167}"/>
                </a:ext>
              </a:extLst>
            </p:cNvPr>
            <p:cNvCxnSpPr>
              <a:stCxn id="3" idx="3"/>
              <a:endCxn id="5" idx="1"/>
            </p:cNvCxnSpPr>
            <p:nvPr/>
          </p:nvCxnSpPr>
          <p:spPr>
            <a:xfrm flipV="1">
              <a:off x="2947916" y="4029501"/>
              <a:ext cx="1394347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142DBE34-03D0-A72A-FABD-BB6F79B066F2}"/>
                </a:ext>
              </a:extLst>
            </p:cNvPr>
            <p:cNvCxnSpPr>
              <a:stCxn id="4" idx="3"/>
              <a:endCxn id="6" idx="1"/>
            </p:cNvCxnSpPr>
            <p:nvPr/>
          </p:nvCxnSpPr>
          <p:spPr>
            <a:xfrm>
              <a:off x="6362131" y="1937983"/>
              <a:ext cx="1394347" cy="10395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0E281171-9C6A-A6D6-7490-A3C0E3929FA3}"/>
                </a:ext>
              </a:extLst>
            </p:cNvPr>
            <p:cNvCxnSpPr>
              <a:stCxn id="5" idx="3"/>
              <a:endCxn id="6" idx="1"/>
            </p:cNvCxnSpPr>
            <p:nvPr/>
          </p:nvCxnSpPr>
          <p:spPr>
            <a:xfrm flipV="1">
              <a:off x="6362131" y="2977488"/>
              <a:ext cx="1394347" cy="10520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21950E8A-7631-D8AF-81BD-5D7EBA62212D}"/>
                </a:ext>
              </a:extLst>
            </p:cNvPr>
            <p:cNvCxnSpPr/>
            <p:nvPr/>
          </p:nvCxnSpPr>
          <p:spPr>
            <a:xfrm>
              <a:off x="614149" y="2376986"/>
              <a:ext cx="5936776" cy="0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653F01DA-71D5-DC41-930B-98BCBCF46985}"/>
                </a:ext>
              </a:extLst>
            </p:cNvPr>
            <p:cNvCxnSpPr/>
            <p:nvPr/>
          </p:nvCxnSpPr>
          <p:spPr>
            <a:xfrm>
              <a:off x="6537277" y="2363338"/>
              <a:ext cx="1392072" cy="1052013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直線矢印コネクタ 19">
              <a:extLst>
                <a:ext uri="{FF2B5EF4-FFF2-40B4-BE49-F238E27FC236}">
                  <a16:creationId xmlns:a16="http://schemas.microsoft.com/office/drawing/2014/main" id="{F64AD2E3-C5C5-E7D1-1742-8C48F012AE3C}"/>
                </a:ext>
              </a:extLst>
            </p:cNvPr>
            <p:cNvCxnSpPr/>
            <p:nvPr/>
          </p:nvCxnSpPr>
          <p:spPr>
            <a:xfrm>
              <a:off x="7929348" y="3415351"/>
              <a:ext cx="2156347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CA51238F-6401-AC54-CED1-D0BA3A43EC57}"/>
                </a:ext>
              </a:extLst>
            </p:cNvPr>
            <p:cNvSpPr txBox="1"/>
            <p:nvPr/>
          </p:nvSpPr>
          <p:spPr>
            <a:xfrm>
              <a:off x="7530193" y="3577989"/>
              <a:ext cx="295465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 dirty="0">
                  <a:solidFill>
                    <a:schemeClr val="accent2"/>
                  </a:solidFill>
                </a:rPr>
                <a:t>クリティカルパス</a:t>
              </a:r>
              <a:endParaRPr kumimoji="1" lang="en-US" altLang="ja-JP" b="1" dirty="0">
                <a:solidFill>
                  <a:schemeClr val="accent2"/>
                </a:solidFill>
              </a:endParaRPr>
            </a:p>
            <a:p>
              <a:r>
                <a:rPr lang="ja-JP" altLang="en-US" b="1" dirty="0">
                  <a:solidFill>
                    <a:schemeClr val="accent2"/>
                  </a:solidFill>
                </a:rPr>
                <a:t>（一番時間がかかる経路</a:t>
              </a:r>
              <a:r>
                <a:rPr lang="ja-JP" altLang="en-US" dirty="0"/>
                <a:t>）</a:t>
              </a:r>
              <a:endParaRPr kumimoji="1" lang="ja-JP" altLang="en-US" dirty="0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2561CF52-464F-F2C3-15F1-0BB11A53FA4A}"/>
                </a:ext>
              </a:extLst>
            </p:cNvPr>
            <p:cNvSpPr txBox="1"/>
            <p:nvPr/>
          </p:nvSpPr>
          <p:spPr>
            <a:xfrm>
              <a:off x="1035045" y="514010"/>
              <a:ext cx="892584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800" dirty="0"/>
                <a:t>PERT</a:t>
              </a:r>
              <a:r>
                <a:rPr kumimoji="1" lang="ja-JP" altLang="en-US" sz="2800" dirty="0"/>
                <a:t>図（</a:t>
              </a:r>
              <a:r>
                <a:rPr kumimoji="1" lang="en-US" altLang="ja-JP" sz="2800" dirty="0"/>
                <a:t>Program Evaluation and Review Technique</a:t>
              </a:r>
              <a:endParaRPr kumimoji="1" lang="ja-JP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31804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26201755-7BDE-4CE2-AEDE-6A7102E9F174}"/>
              </a:ext>
            </a:extLst>
          </p:cNvPr>
          <p:cNvGrpSpPr/>
          <p:nvPr/>
        </p:nvGrpSpPr>
        <p:grpSpPr>
          <a:xfrm>
            <a:off x="2279176" y="2760258"/>
            <a:ext cx="5481849" cy="1530025"/>
            <a:chOff x="2279176" y="2760258"/>
            <a:chExt cx="5481849" cy="1530025"/>
          </a:xfrm>
        </p:grpSpPr>
        <p:sp>
          <p:nvSpPr>
            <p:cNvPr id="2" name="楕円 1">
              <a:extLst>
                <a:ext uri="{FF2B5EF4-FFF2-40B4-BE49-F238E27FC236}">
                  <a16:creationId xmlns:a16="http://schemas.microsoft.com/office/drawing/2014/main" id="{55AE5BF4-5708-3435-F68F-017A118A55BB}"/>
                </a:ext>
              </a:extLst>
            </p:cNvPr>
            <p:cNvSpPr/>
            <p:nvPr/>
          </p:nvSpPr>
          <p:spPr>
            <a:xfrm>
              <a:off x="2279176" y="2760259"/>
              <a:ext cx="1323833" cy="699448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楕円 2">
              <a:extLst>
                <a:ext uri="{FF2B5EF4-FFF2-40B4-BE49-F238E27FC236}">
                  <a16:creationId xmlns:a16="http://schemas.microsoft.com/office/drawing/2014/main" id="{906E167D-3193-1D43-2745-24A5FBE643ED}"/>
                </a:ext>
              </a:extLst>
            </p:cNvPr>
            <p:cNvSpPr/>
            <p:nvPr/>
          </p:nvSpPr>
          <p:spPr>
            <a:xfrm>
              <a:off x="3318680" y="2760258"/>
              <a:ext cx="1323833" cy="699448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楕円 3">
              <a:extLst>
                <a:ext uri="{FF2B5EF4-FFF2-40B4-BE49-F238E27FC236}">
                  <a16:creationId xmlns:a16="http://schemas.microsoft.com/office/drawing/2014/main" id="{D7CE482C-41ED-20BA-73D0-731489947BCE}"/>
                </a:ext>
              </a:extLst>
            </p:cNvPr>
            <p:cNvSpPr/>
            <p:nvPr/>
          </p:nvSpPr>
          <p:spPr>
            <a:xfrm>
              <a:off x="4358184" y="2760258"/>
              <a:ext cx="1323833" cy="699448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楕円 4">
              <a:extLst>
                <a:ext uri="{FF2B5EF4-FFF2-40B4-BE49-F238E27FC236}">
                  <a16:creationId xmlns:a16="http://schemas.microsoft.com/office/drawing/2014/main" id="{9E51B79B-BFAF-2851-4D51-F20DECD03B89}"/>
                </a:ext>
              </a:extLst>
            </p:cNvPr>
            <p:cNvSpPr/>
            <p:nvPr/>
          </p:nvSpPr>
          <p:spPr>
            <a:xfrm>
              <a:off x="5397688" y="2760258"/>
              <a:ext cx="1323833" cy="699448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楕円 5">
              <a:extLst>
                <a:ext uri="{FF2B5EF4-FFF2-40B4-BE49-F238E27FC236}">
                  <a16:creationId xmlns:a16="http://schemas.microsoft.com/office/drawing/2014/main" id="{61A538D0-E100-6FEF-C8E9-450371D73C21}"/>
                </a:ext>
              </a:extLst>
            </p:cNvPr>
            <p:cNvSpPr/>
            <p:nvPr/>
          </p:nvSpPr>
          <p:spPr>
            <a:xfrm>
              <a:off x="6437192" y="2760258"/>
              <a:ext cx="1323833" cy="699448"/>
            </a:xfrm>
            <a:prstGeom prst="ellipse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7353EB7E-E45B-1367-E2B3-EAB9726C4092}"/>
                </a:ext>
              </a:extLst>
            </p:cNvPr>
            <p:cNvSpPr txBox="1"/>
            <p:nvPr/>
          </p:nvSpPr>
          <p:spPr>
            <a:xfrm>
              <a:off x="2590462" y="3643952"/>
              <a:ext cx="64633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/>
                <a:t>購買</a:t>
              </a:r>
              <a:endParaRPr lang="en-US" altLang="ja-JP" dirty="0"/>
            </a:p>
            <a:p>
              <a:r>
                <a:rPr kumimoji="1" lang="ja-JP" altLang="en-US" dirty="0"/>
                <a:t>部門</a:t>
              </a:r>
              <a:endParaRPr kumimoji="1" lang="en-US" altLang="ja-JP" dirty="0"/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CE1C6A1E-2A5D-584D-2A0C-A07C76FA63FB}"/>
                </a:ext>
              </a:extLst>
            </p:cNvPr>
            <p:cNvSpPr txBox="1"/>
            <p:nvPr/>
          </p:nvSpPr>
          <p:spPr>
            <a:xfrm>
              <a:off x="3657430" y="3643951"/>
              <a:ext cx="64633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/>
                <a:t>製造</a:t>
              </a:r>
              <a:endParaRPr lang="en-US" altLang="ja-JP" dirty="0"/>
            </a:p>
            <a:p>
              <a:r>
                <a:rPr kumimoji="1" lang="ja-JP" altLang="en-US" dirty="0"/>
                <a:t>部門</a:t>
              </a:r>
              <a:endParaRPr kumimoji="1" lang="en-US" altLang="ja-JP" dirty="0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B2835F4B-D6EA-AD39-540F-114DC7C5243C}"/>
                </a:ext>
              </a:extLst>
            </p:cNvPr>
            <p:cNvSpPr txBox="1"/>
            <p:nvPr/>
          </p:nvSpPr>
          <p:spPr>
            <a:xfrm>
              <a:off x="4728946" y="3643950"/>
              <a:ext cx="64633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/>
                <a:t>配送</a:t>
              </a:r>
              <a:endParaRPr lang="en-US" altLang="ja-JP" dirty="0"/>
            </a:p>
            <a:p>
              <a:r>
                <a:rPr kumimoji="1" lang="ja-JP" altLang="en-US" dirty="0"/>
                <a:t>部門</a:t>
              </a:r>
              <a:endParaRPr kumimoji="1" lang="en-US" altLang="ja-JP" dirty="0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7CF2BCA9-2155-5F18-26E1-0D2EC3CC440F}"/>
                </a:ext>
              </a:extLst>
            </p:cNvPr>
            <p:cNvSpPr txBox="1"/>
            <p:nvPr/>
          </p:nvSpPr>
          <p:spPr>
            <a:xfrm>
              <a:off x="5736438" y="3635186"/>
              <a:ext cx="64633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/>
                <a:t>営業</a:t>
              </a:r>
              <a:endParaRPr lang="en-US" altLang="ja-JP" dirty="0"/>
            </a:p>
            <a:p>
              <a:r>
                <a:rPr kumimoji="1" lang="ja-JP" altLang="en-US" dirty="0"/>
                <a:t>部門</a:t>
              </a:r>
              <a:endParaRPr kumimoji="1" lang="en-US" altLang="ja-JP" dirty="0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6563225B-5E38-1BD2-737B-AD9671E2636B}"/>
                </a:ext>
              </a:extLst>
            </p:cNvPr>
            <p:cNvSpPr txBox="1"/>
            <p:nvPr/>
          </p:nvSpPr>
          <p:spPr>
            <a:xfrm>
              <a:off x="6775942" y="3635185"/>
              <a:ext cx="64633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dirty="0"/>
                <a:t>経理</a:t>
              </a:r>
              <a:endParaRPr lang="en-US" altLang="ja-JP" dirty="0"/>
            </a:p>
            <a:p>
              <a:r>
                <a:rPr kumimoji="1" lang="ja-JP" altLang="en-US" dirty="0"/>
                <a:t>部門</a:t>
              </a:r>
              <a:endParaRPr kumimoji="1" lang="en-US" altLang="ja-JP" dirty="0"/>
            </a:p>
          </p:txBody>
        </p:sp>
      </p:grpSp>
    </p:spTree>
    <p:extLst>
      <p:ext uri="{BB962C8B-B14F-4D97-AF65-F5344CB8AC3E}">
        <p14:creationId xmlns:p14="http://schemas.microsoft.com/office/powerpoint/2010/main" val="3944758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75061277-072F-99AB-4344-DBFF3CB8BEB1}"/>
              </a:ext>
            </a:extLst>
          </p:cNvPr>
          <p:cNvGrpSpPr/>
          <p:nvPr/>
        </p:nvGrpSpPr>
        <p:grpSpPr>
          <a:xfrm>
            <a:off x="914400" y="1785257"/>
            <a:ext cx="5181597" cy="4043141"/>
            <a:chOff x="914400" y="1785257"/>
            <a:chExt cx="5181597" cy="4043141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521D556E-985C-307C-75AC-BF9E49C8BDAE}"/>
                </a:ext>
              </a:extLst>
            </p:cNvPr>
            <p:cNvSpPr/>
            <p:nvPr/>
          </p:nvSpPr>
          <p:spPr>
            <a:xfrm>
              <a:off x="928914" y="1785257"/>
              <a:ext cx="1611086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ysClr val="windowText" lastClr="000000"/>
                  </a:solidFill>
                </a:rPr>
                <a:t>A</a:t>
              </a:r>
              <a:endParaRPr kumimoji="1" lang="ja-JP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06F10237-BF1A-5B01-EB73-79213DF0492F}"/>
                </a:ext>
              </a:extLst>
            </p:cNvPr>
            <p:cNvSpPr/>
            <p:nvPr/>
          </p:nvSpPr>
          <p:spPr>
            <a:xfrm>
              <a:off x="2692400" y="1785257"/>
              <a:ext cx="1611086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ysClr val="windowText" lastClr="000000"/>
                  </a:solidFill>
                </a:rPr>
                <a:t>B</a:t>
              </a:r>
              <a:endParaRPr kumimoji="1" lang="ja-JP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132F3103-CFA2-B859-C62C-A8E416E28636}"/>
                </a:ext>
              </a:extLst>
            </p:cNvPr>
            <p:cNvSpPr/>
            <p:nvPr/>
          </p:nvSpPr>
          <p:spPr>
            <a:xfrm>
              <a:off x="4455886" y="1785257"/>
              <a:ext cx="1611086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>
                  <a:solidFill>
                    <a:sysClr val="windowText" lastClr="000000"/>
                  </a:solidFill>
                </a:rPr>
                <a:t>C</a:t>
              </a:r>
              <a:endParaRPr kumimoji="1" lang="ja-JP" altLang="en-US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6" name="直線矢印コネクタ 5">
              <a:extLst>
                <a:ext uri="{FF2B5EF4-FFF2-40B4-BE49-F238E27FC236}">
                  <a16:creationId xmlns:a16="http://schemas.microsoft.com/office/drawing/2014/main" id="{C44F3BD3-7A0D-307B-EE60-EDA0F8BAC86E}"/>
                </a:ext>
              </a:extLst>
            </p:cNvPr>
            <p:cNvCxnSpPr/>
            <p:nvPr/>
          </p:nvCxnSpPr>
          <p:spPr>
            <a:xfrm>
              <a:off x="914400" y="2815771"/>
              <a:ext cx="161108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08D251AA-1167-9ACC-FBF3-CEC705ABF388}"/>
                </a:ext>
              </a:extLst>
            </p:cNvPr>
            <p:cNvSpPr txBox="1"/>
            <p:nvPr/>
          </p:nvSpPr>
          <p:spPr>
            <a:xfrm>
              <a:off x="1513884" y="2815771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10</a:t>
              </a:r>
              <a:endParaRPr kumimoji="1" lang="ja-JP" altLang="en-US" dirty="0"/>
            </a:p>
          </p:txBody>
        </p: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24E50C8C-E207-3169-E142-CD5DF127253B}"/>
                </a:ext>
              </a:extLst>
            </p:cNvPr>
            <p:cNvCxnSpPr/>
            <p:nvPr/>
          </p:nvCxnSpPr>
          <p:spPr>
            <a:xfrm>
              <a:off x="2692400" y="2815771"/>
              <a:ext cx="161108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1E3E7232-01F2-9657-B894-CE7D995E1A87}"/>
                </a:ext>
              </a:extLst>
            </p:cNvPr>
            <p:cNvSpPr txBox="1"/>
            <p:nvPr/>
          </p:nvSpPr>
          <p:spPr>
            <a:xfrm>
              <a:off x="3291884" y="2815771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10</a:t>
              </a:r>
              <a:endParaRPr kumimoji="1" lang="ja-JP" altLang="en-US" dirty="0"/>
            </a:p>
          </p:txBody>
        </p:sp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20A3C3FE-5359-5397-0C7D-A210068BCA7F}"/>
                </a:ext>
              </a:extLst>
            </p:cNvPr>
            <p:cNvCxnSpPr/>
            <p:nvPr/>
          </p:nvCxnSpPr>
          <p:spPr>
            <a:xfrm>
              <a:off x="4455886" y="2815771"/>
              <a:ext cx="161108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FCEE7E93-F4AF-8F6F-5BCB-7D7F83F0F2FF}"/>
                </a:ext>
              </a:extLst>
            </p:cNvPr>
            <p:cNvSpPr txBox="1"/>
            <p:nvPr/>
          </p:nvSpPr>
          <p:spPr>
            <a:xfrm>
              <a:off x="5055370" y="2815771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/>
                <a:t>10</a:t>
              </a:r>
              <a:endParaRPr kumimoji="1" lang="ja-JP" altLang="en-US" dirty="0"/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C4145859-1F7B-29A0-1585-6BE370AF4272}"/>
                </a:ext>
              </a:extLst>
            </p:cNvPr>
            <p:cNvSpPr/>
            <p:nvPr/>
          </p:nvSpPr>
          <p:spPr>
            <a:xfrm>
              <a:off x="928914" y="3672898"/>
              <a:ext cx="806579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ysClr val="windowText" lastClr="000000"/>
                  </a:solidFill>
                </a:rPr>
                <a:t>A</a:t>
              </a:r>
              <a:endParaRPr kumimoji="1" lang="ja-JP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A0092A8F-43AF-0A6A-DEAC-867AAC1F09B1}"/>
                </a:ext>
              </a:extLst>
            </p:cNvPr>
            <p:cNvSpPr/>
            <p:nvPr/>
          </p:nvSpPr>
          <p:spPr>
            <a:xfrm>
              <a:off x="1799771" y="3672898"/>
              <a:ext cx="806579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>
                  <a:solidFill>
                    <a:sysClr val="windowText" lastClr="000000"/>
                  </a:solidFill>
                </a:rPr>
                <a:t>B</a:t>
              </a:r>
              <a:endParaRPr kumimoji="1" lang="ja-JP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933832A7-E9F6-2387-CE5A-CD6F4AFAD7AD}"/>
                </a:ext>
              </a:extLst>
            </p:cNvPr>
            <p:cNvSpPr/>
            <p:nvPr/>
          </p:nvSpPr>
          <p:spPr>
            <a:xfrm>
              <a:off x="2670628" y="3672898"/>
              <a:ext cx="806579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ysClr val="windowText" lastClr="000000"/>
                  </a:solidFill>
                </a:rPr>
                <a:t>C</a:t>
              </a:r>
              <a:endParaRPr kumimoji="1" lang="ja-JP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487FF01D-E070-F4E3-46D4-21BEA1770F9D}"/>
                </a:ext>
              </a:extLst>
            </p:cNvPr>
            <p:cNvSpPr/>
            <p:nvPr/>
          </p:nvSpPr>
          <p:spPr>
            <a:xfrm>
              <a:off x="3541485" y="3672898"/>
              <a:ext cx="806579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>
                  <a:solidFill>
                    <a:sysClr val="windowText" lastClr="000000"/>
                  </a:solidFill>
                </a:rPr>
                <a:t>A</a:t>
              </a:r>
              <a:endParaRPr kumimoji="1" lang="ja-JP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6C6AAE2E-4053-09EF-26E7-46A97930D12E}"/>
                </a:ext>
              </a:extLst>
            </p:cNvPr>
            <p:cNvSpPr/>
            <p:nvPr/>
          </p:nvSpPr>
          <p:spPr>
            <a:xfrm>
              <a:off x="4412342" y="3672898"/>
              <a:ext cx="806579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ysClr val="windowText" lastClr="000000"/>
                  </a:solidFill>
                </a:rPr>
                <a:t>B</a:t>
              </a:r>
              <a:endParaRPr kumimoji="1" lang="ja-JP" altLang="en-US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427D672F-53E6-C411-9DA6-E5E1808627EE}"/>
                </a:ext>
              </a:extLst>
            </p:cNvPr>
            <p:cNvSpPr/>
            <p:nvPr/>
          </p:nvSpPr>
          <p:spPr>
            <a:xfrm>
              <a:off x="5283199" y="3672898"/>
              <a:ext cx="806579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dirty="0">
                  <a:solidFill>
                    <a:sysClr val="windowText" lastClr="000000"/>
                  </a:solidFill>
                </a:rPr>
                <a:t>C</a:t>
              </a:r>
              <a:endParaRPr kumimoji="1" lang="ja-JP" altLang="en-US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21" name="直線矢印コネクタ 20">
              <a:extLst>
                <a:ext uri="{FF2B5EF4-FFF2-40B4-BE49-F238E27FC236}">
                  <a16:creationId xmlns:a16="http://schemas.microsoft.com/office/drawing/2014/main" id="{45D2112C-1609-B4B6-9B61-26F24EB09D84}"/>
                </a:ext>
              </a:extLst>
            </p:cNvPr>
            <p:cNvCxnSpPr>
              <a:cxnSpLocks/>
            </p:cNvCxnSpPr>
            <p:nvPr/>
          </p:nvCxnSpPr>
          <p:spPr>
            <a:xfrm>
              <a:off x="929950" y="4720402"/>
              <a:ext cx="3418114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885D708E-BB80-498B-55D6-B41F1CF4CF41}"/>
                </a:ext>
              </a:extLst>
            </p:cNvPr>
            <p:cNvSpPr txBox="1"/>
            <p:nvPr/>
          </p:nvSpPr>
          <p:spPr>
            <a:xfrm>
              <a:off x="2319427" y="4720402"/>
              <a:ext cx="4411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dirty="0"/>
                <a:t>2</a:t>
              </a:r>
              <a:r>
                <a:rPr kumimoji="1" lang="en-US" altLang="ja-JP" dirty="0"/>
                <a:t>0</a:t>
              </a:r>
              <a:endParaRPr kumimoji="1" lang="ja-JP" altLang="en-US" dirty="0"/>
            </a:p>
          </p:txBody>
        </p:sp>
        <p:cxnSp>
          <p:nvCxnSpPr>
            <p:cNvPr id="24" name="直線矢印コネクタ 23">
              <a:extLst>
                <a:ext uri="{FF2B5EF4-FFF2-40B4-BE49-F238E27FC236}">
                  <a16:creationId xmlns:a16="http://schemas.microsoft.com/office/drawing/2014/main" id="{E2C452E4-EE14-BD4A-EC7D-C953E352C06F}"/>
                </a:ext>
              </a:extLst>
            </p:cNvPr>
            <p:cNvCxnSpPr>
              <a:cxnSpLocks/>
            </p:cNvCxnSpPr>
            <p:nvPr/>
          </p:nvCxnSpPr>
          <p:spPr>
            <a:xfrm>
              <a:off x="1800807" y="5089734"/>
              <a:ext cx="3418114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2EF1AD09-0ED6-3113-AFE6-BDA9DDEE80EA}"/>
                </a:ext>
              </a:extLst>
            </p:cNvPr>
            <p:cNvSpPr txBox="1"/>
            <p:nvPr/>
          </p:nvSpPr>
          <p:spPr>
            <a:xfrm>
              <a:off x="3190284" y="5089734"/>
              <a:ext cx="4411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dirty="0"/>
                <a:t>2</a:t>
              </a:r>
              <a:r>
                <a:rPr kumimoji="1" lang="en-US" altLang="ja-JP" dirty="0"/>
                <a:t>0</a:t>
              </a:r>
              <a:endParaRPr kumimoji="1" lang="ja-JP" altLang="en-US" dirty="0"/>
            </a:p>
          </p:txBody>
        </p:sp>
        <p:cxnSp>
          <p:nvCxnSpPr>
            <p:cNvPr id="26" name="直線矢印コネクタ 25">
              <a:extLst>
                <a:ext uri="{FF2B5EF4-FFF2-40B4-BE49-F238E27FC236}">
                  <a16:creationId xmlns:a16="http://schemas.microsoft.com/office/drawing/2014/main" id="{6DCEFE70-1553-DEBA-9518-C8419A267122}"/>
                </a:ext>
              </a:extLst>
            </p:cNvPr>
            <p:cNvCxnSpPr>
              <a:cxnSpLocks/>
            </p:cNvCxnSpPr>
            <p:nvPr/>
          </p:nvCxnSpPr>
          <p:spPr>
            <a:xfrm>
              <a:off x="2677883" y="5459066"/>
              <a:ext cx="3418114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487BDB59-542C-A528-9A0A-EDC0EEE051A4}"/>
                </a:ext>
              </a:extLst>
            </p:cNvPr>
            <p:cNvSpPr txBox="1"/>
            <p:nvPr/>
          </p:nvSpPr>
          <p:spPr>
            <a:xfrm>
              <a:off x="4067360" y="5459066"/>
              <a:ext cx="4411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dirty="0"/>
                <a:t>2</a:t>
              </a:r>
              <a:r>
                <a:rPr kumimoji="1" lang="en-US" altLang="ja-JP" dirty="0"/>
                <a:t>0</a:t>
              </a:r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5866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76E71F20-7809-3CEC-36FE-BF3DAF69C67D}"/>
              </a:ext>
            </a:extLst>
          </p:cNvPr>
          <p:cNvGrpSpPr/>
          <p:nvPr/>
        </p:nvGrpSpPr>
        <p:grpSpPr>
          <a:xfrm>
            <a:off x="704850" y="1952621"/>
            <a:ext cx="8001000" cy="2466974"/>
            <a:chOff x="704850" y="1952621"/>
            <a:chExt cx="8001000" cy="2466974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0646066A-2898-6B3B-9E3E-8600F4D684A8}"/>
                </a:ext>
              </a:extLst>
            </p:cNvPr>
            <p:cNvSpPr/>
            <p:nvPr/>
          </p:nvSpPr>
          <p:spPr>
            <a:xfrm>
              <a:off x="704850" y="2943225"/>
              <a:ext cx="2034778" cy="485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00" dirty="0">
                  <a:solidFill>
                    <a:sysClr val="windowText" lastClr="000000"/>
                  </a:solidFill>
                </a:rPr>
                <a:t>ステップ</a:t>
              </a:r>
              <a:endParaRPr kumimoji="1" lang="en-US" altLang="ja-JP" sz="1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altLang="ja-JP" sz="1000" dirty="0">
                  <a:solidFill>
                    <a:sysClr val="windowText" lastClr="000000"/>
                  </a:solidFill>
                </a:rPr>
                <a:t>1</a:t>
              </a:r>
              <a:endParaRPr kumimoji="1" lang="ja-JP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FE7A0A9B-B146-8027-DD97-7C79726F54D6}"/>
                </a:ext>
              </a:extLst>
            </p:cNvPr>
            <p:cNvSpPr/>
            <p:nvPr/>
          </p:nvSpPr>
          <p:spPr>
            <a:xfrm>
              <a:off x="2846189" y="2943221"/>
              <a:ext cx="1521024" cy="485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00" dirty="0">
                  <a:solidFill>
                    <a:sysClr val="windowText" lastClr="000000"/>
                  </a:solidFill>
                </a:rPr>
                <a:t>ステップ</a:t>
              </a:r>
              <a:endParaRPr kumimoji="1" lang="en-US" altLang="ja-JP" sz="1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altLang="ja-JP" sz="1000" dirty="0">
                  <a:solidFill>
                    <a:sysClr val="windowText" lastClr="000000"/>
                  </a:solidFill>
                </a:rPr>
                <a:t>2</a:t>
              </a:r>
              <a:endParaRPr kumimoji="1" lang="ja-JP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EBF3DB5C-D59D-289C-7533-29CA05CB72C3}"/>
                </a:ext>
              </a:extLst>
            </p:cNvPr>
            <p:cNvSpPr/>
            <p:nvPr/>
          </p:nvSpPr>
          <p:spPr>
            <a:xfrm>
              <a:off x="4473774" y="2943220"/>
              <a:ext cx="2034779" cy="485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00" dirty="0">
                  <a:solidFill>
                    <a:sysClr val="windowText" lastClr="000000"/>
                  </a:solidFill>
                </a:rPr>
                <a:t>ステップ</a:t>
              </a:r>
              <a:endParaRPr kumimoji="1" lang="en-US" altLang="ja-JP" sz="1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kumimoji="1" lang="en-US" altLang="ja-JP" sz="1000" dirty="0">
                  <a:solidFill>
                    <a:sysClr val="windowText" lastClr="000000"/>
                  </a:solidFill>
                </a:rPr>
                <a:t>3</a:t>
              </a:r>
              <a:endParaRPr kumimoji="1" lang="ja-JP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83CB8319-36A6-CFA0-F9F8-AA9B26421952}"/>
                </a:ext>
              </a:extLst>
            </p:cNvPr>
            <p:cNvSpPr/>
            <p:nvPr/>
          </p:nvSpPr>
          <p:spPr>
            <a:xfrm>
              <a:off x="6615114" y="2943220"/>
              <a:ext cx="1969889" cy="485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00" dirty="0">
                  <a:solidFill>
                    <a:sysClr val="windowText" lastClr="000000"/>
                  </a:solidFill>
                </a:rPr>
                <a:t>ステップ</a:t>
              </a:r>
              <a:endParaRPr kumimoji="1" lang="en-US" altLang="ja-JP" sz="1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altLang="ja-JP" sz="1000" dirty="0">
                  <a:solidFill>
                    <a:sysClr val="windowText" lastClr="000000"/>
                  </a:solidFill>
                </a:rPr>
                <a:t>4</a:t>
              </a:r>
              <a:endParaRPr kumimoji="1" lang="ja-JP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CEE825AA-8E78-7EC9-BB7F-D11DA04A5732}"/>
                </a:ext>
              </a:extLst>
            </p:cNvPr>
            <p:cNvSpPr/>
            <p:nvPr/>
          </p:nvSpPr>
          <p:spPr>
            <a:xfrm>
              <a:off x="2452688" y="1952621"/>
              <a:ext cx="1806178" cy="485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00" dirty="0">
                  <a:solidFill>
                    <a:sysClr val="windowText" lastClr="000000"/>
                  </a:solidFill>
                </a:rPr>
                <a:t>ステップ</a:t>
              </a:r>
              <a:endParaRPr kumimoji="1" lang="en-US" altLang="ja-JP" sz="1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altLang="ja-JP" sz="1000" dirty="0">
                  <a:solidFill>
                    <a:sysClr val="windowText" lastClr="000000"/>
                  </a:solidFill>
                </a:rPr>
                <a:t>A1</a:t>
              </a:r>
              <a:endParaRPr kumimoji="1" lang="ja-JP" altLang="en-US" sz="10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6" name="コネクタ: カギ線 15">
              <a:extLst>
                <a:ext uri="{FF2B5EF4-FFF2-40B4-BE49-F238E27FC236}">
                  <a16:creationId xmlns:a16="http://schemas.microsoft.com/office/drawing/2014/main" id="{C99DA9FE-2B3E-11ED-C8F6-C139126D02F6}"/>
                </a:ext>
              </a:extLst>
            </p:cNvPr>
            <p:cNvCxnSpPr>
              <a:cxnSpLocks/>
            </p:cNvCxnSpPr>
            <p:nvPr/>
          </p:nvCxnSpPr>
          <p:spPr>
            <a:xfrm>
              <a:off x="4258866" y="2195508"/>
              <a:ext cx="108347" cy="766761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9214B8CC-4800-B29B-0153-A464E1741325}"/>
                </a:ext>
              </a:extLst>
            </p:cNvPr>
            <p:cNvSpPr/>
            <p:nvPr/>
          </p:nvSpPr>
          <p:spPr>
            <a:xfrm>
              <a:off x="3131940" y="3933820"/>
              <a:ext cx="1642467" cy="485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00" dirty="0">
                  <a:solidFill>
                    <a:sysClr val="windowText" lastClr="000000"/>
                  </a:solidFill>
                </a:rPr>
                <a:t>ステップ</a:t>
              </a:r>
              <a:endParaRPr kumimoji="1" lang="en-US" altLang="ja-JP" sz="1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altLang="ja-JP" sz="1000" dirty="0">
                  <a:solidFill>
                    <a:sysClr val="windowText" lastClr="000000"/>
                  </a:solidFill>
                </a:rPr>
                <a:t>B1</a:t>
              </a:r>
              <a:endParaRPr kumimoji="1" lang="ja-JP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2DE6A05F-5C48-B90A-42DF-444D99CD1B48}"/>
                </a:ext>
              </a:extLst>
            </p:cNvPr>
            <p:cNvSpPr/>
            <p:nvPr/>
          </p:nvSpPr>
          <p:spPr>
            <a:xfrm>
              <a:off x="4847631" y="3933820"/>
              <a:ext cx="1485900" cy="485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00" dirty="0">
                  <a:solidFill>
                    <a:sysClr val="windowText" lastClr="000000"/>
                  </a:solidFill>
                </a:rPr>
                <a:t>ステップ</a:t>
              </a:r>
              <a:endParaRPr kumimoji="1" lang="en-US" altLang="ja-JP" sz="1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altLang="ja-JP" sz="1000" dirty="0">
                  <a:solidFill>
                    <a:sysClr val="windowText" lastClr="000000"/>
                  </a:solidFill>
                </a:rPr>
                <a:t>B2</a:t>
              </a:r>
              <a:endParaRPr kumimoji="1" lang="ja-JP" altLang="en-US" sz="10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21" name="コネクタ: カギ線 20">
              <a:extLst>
                <a:ext uri="{FF2B5EF4-FFF2-40B4-BE49-F238E27FC236}">
                  <a16:creationId xmlns:a16="http://schemas.microsoft.com/office/drawing/2014/main" id="{9BF11FFE-46C1-8982-8B7D-CE7B445E9E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531" y="3409944"/>
              <a:ext cx="175022" cy="75485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線矢印コネクタ 35">
              <a:extLst>
                <a:ext uri="{FF2B5EF4-FFF2-40B4-BE49-F238E27FC236}">
                  <a16:creationId xmlns:a16="http://schemas.microsoft.com/office/drawing/2014/main" id="{ED34824A-1509-361F-60A3-D655507AABB1}"/>
                </a:ext>
              </a:extLst>
            </p:cNvPr>
            <p:cNvCxnSpPr/>
            <p:nvPr/>
          </p:nvCxnSpPr>
          <p:spPr>
            <a:xfrm>
              <a:off x="704850" y="3590925"/>
              <a:ext cx="80010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AEE6BE72-B5D8-2C57-4852-678B6B8F8A9F}"/>
                </a:ext>
              </a:extLst>
            </p:cNvPr>
            <p:cNvSpPr txBox="1"/>
            <p:nvPr/>
          </p:nvSpPr>
          <p:spPr>
            <a:xfrm>
              <a:off x="6853914" y="3618018"/>
              <a:ext cx="16209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400" dirty="0">
                  <a:solidFill>
                    <a:schemeClr val="accent2"/>
                  </a:solidFill>
                </a:rPr>
                <a:t>クリティカルパス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6417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D95E0-4386-3A2D-A53B-C5446793B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FA945253-B85D-263D-A83C-9235596C331C}"/>
              </a:ext>
            </a:extLst>
          </p:cNvPr>
          <p:cNvGrpSpPr/>
          <p:nvPr/>
        </p:nvGrpSpPr>
        <p:grpSpPr>
          <a:xfrm>
            <a:off x="704850" y="1933574"/>
            <a:ext cx="8001000" cy="2889943"/>
            <a:chOff x="704850" y="1933574"/>
            <a:chExt cx="8001000" cy="2889943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22AC0C8A-E4C9-F6B7-4292-DD92A3C2FD24}"/>
                </a:ext>
              </a:extLst>
            </p:cNvPr>
            <p:cNvSpPr/>
            <p:nvPr/>
          </p:nvSpPr>
          <p:spPr>
            <a:xfrm>
              <a:off x="704850" y="2943225"/>
              <a:ext cx="1209675" cy="485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00" dirty="0">
                  <a:solidFill>
                    <a:sysClr val="windowText" lastClr="000000"/>
                  </a:solidFill>
                </a:rPr>
                <a:t>ステップ</a:t>
              </a:r>
              <a:endParaRPr kumimoji="1" lang="en-US" altLang="ja-JP" sz="1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altLang="ja-JP" sz="1000" dirty="0">
                  <a:solidFill>
                    <a:sysClr val="windowText" lastClr="000000"/>
                  </a:solidFill>
                </a:rPr>
                <a:t>1</a:t>
              </a:r>
              <a:endParaRPr kumimoji="1" lang="ja-JP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66C29186-F064-1669-F1D7-4A2672791ED6}"/>
                </a:ext>
              </a:extLst>
            </p:cNvPr>
            <p:cNvSpPr/>
            <p:nvPr/>
          </p:nvSpPr>
          <p:spPr>
            <a:xfrm>
              <a:off x="2019300" y="2943224"/>
              <a:ext cx="828675" cy="485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00" dirty="0">
                  <a:solidFill>
                    <a:sysClr val="windowText" lastClr="000000"/>
                  </a:solidFill>
                </a:rPr>
                <a:t>ステップ</a:t>
              </a:r>
              <a:endParaRPr kumimoji="1" lang="en-US" altLang="ja-JP" sz="1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altLang="ja-JP" sz="1000" dirty="0">
                  <a:solidFill>
                    <a:sysClr val="windowText" lastClr="000000"/>
                  </a:solidFill>
                </a:rPr>
                <a:t>2</a:t>
              </a:r>
              <a:endParaRPr kumimoji="1" lang="ja-JP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7519BE54-BC4A-6ACC-992E-AF7B8D7966D6}"/>
                </a:ext>
              </a:extLst>
            </p:cNvPr>
            <p:cNvSpPr/>
            <p:nvPr/>
          </p:nvSpPr>
          <p:spPr>
            <a:xfrm>
              <a:off x="2952750" y="2943223"/>
              <a:ext cx="1438275" cy="485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00" dirty="0">
                  <a:solidFill>
                    <a:sysClr val="windowText" lastClr="000000"/>
                  </a:solidFill>
                </a:rPr>
                <a:t>ステップ</a:t>
              </a:r>
              <a:endParaRPr kumimoji="1" lang="en-US" altLang="ja-JP" sz="1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kumimoji="1" lang="en-US" altLang="ja-JP" sz="1000" dirty="0">
                  <a:solidFill>
                    <a:sysClr val="windowText" lastClr="000000"/>
                  </a:solidFill>
                </a:rPr>
                <a:t>3</a:t>
              </a:r>
              <a:endParaRPr kumimoji="1" lang="ja-JP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72F86AFE-E5D5-BCAF-E059-FD3B36A3C09E}"/>
                </a:ext>
              </a:extLst>
            </p:cNvPr>
            <p:cNvSpPr/>
            <p:nvPr/>
          </p:nvSpPr>
          <p:spPr>
            <a:xfrm>
              <a:off x="4495801" y="2943223"/>
              <a:ext cx="933450" cy="485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00" dirty="0">
                  <a:solidFill>
                    <a:sysClr val="windowText" lastClr="000000"/>
                  </a:solidFill>
                </a:rPr>
                <a:t>ステップ</a:t>
              </a:r>
              <a:endParaRPr kumimoji="1" lang="en-US" altLang="ja-JP" sz="1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altLang="ja-JP" sz="1000" dirty="0">
                  <a:solidFill>
                    <a:sysClr val="windowText" lastClr="000000"/>
                  </a:solidFill>
                </a:rPr>
                <a:t>4</a:t>
              </a:r>
              <a:endParaRPr kumimoji="1" lang="ja-JP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台形 7">
              <a:extLst>
                <a:ext uri="{FF2B5EF4-FFF2-40B4-BE49-F238E27FC236}">
                  <a16:creationId xmlns:a16="http://schemas.microsoft.com/office/drawing/2014/main" id="{16DF67DE-3A75-8788-F4DC-9AB303163AF6}"/>
                </a:ext>
              </a:extLst>
            </p:cNvPr>
            <p:cNvSpPr/>
            <p:nvPr/>
          </p:nvSpPr>
          <p:spPr>
            <a:xfrm>
              <a:off x="5543551" y="2943223"/>
              <a:ext cx="3067050" cy="485775"/>
            </a:xfrm>
            <a:prstGeom prst="trapezoid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0" dirty="0">
                  <a:solidFill>
                    <a:sysClr val="windowText" lastClr="000000"/>
                  </a:solidFill>
                </a:rPr>
                <a:t>バッファ</a:t>
              </a:r>
              <a:endParaRPr kumimoji="1" lang="ja-JP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6E739B44-6381-DBB4-64A1-2B9B9E96CA76}"/>
                </a:ext>
              </a:extLst>
            </p:cNvPr>
            <p:cNvSpPr/>
            <p:nvPr/>
          </p:nvSpPr>
          <p:spPr>
            <a:xfrm>
              <a:off x="933450" y="1933575"/>
              <a:ext cx="885825" cy="485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00" dirty="0">
                  <a:solidFill>
                    <a:sysClr val="windowText" lastClr="000000"/>
                  </a:solidFill>
                </a:rPr>
                <a:t>ステップ</a:t>
              </a:r>
              <a:endParaRPr kumimoji="1" lang="en-US" altLang="ja-JP" sz="1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altLang="ja-JP" sz="1000" dirty="0">
                  <a:solidFill>
                    <a:sysClr val="windowText" lastClr="000000"/>
                  </a:solidFill>
                </a:rPr>
                <a:t>A1</a:t>
              </a:r>
              <a:endParaRPr kumimoji="1" lang="ja-JP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台形 10">
              <a:extLst>
                <a:ext uri="{FF2B5EF4-FFF2-40B4-BE49-F238E27FC236}">
                  <a16:creationId xmlns:a16="http://schemas.microsoft.com/office/drawing/2014/main" id="{9ABB5142-5DDD-994C-6BC6-78A320ED9B0F}"/>
                </a:ext>
              </a:extLst>
            </p:cNvPr>
            <p:cNvSpPr/>
            <p:nvPr/>
          </p:nvSpPr>
          <p:spPr>
            <a:xfrm>
              <a:off x="1914525" y="1933574"/>
              <a:ext cx="885825" cy="485775"/>
            </a:xfrm>
            <a:prstGeom prst="trapezoid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0" dirty="0">
                  <a:solidFill>
                    <a:sysClr val="windowText" lastClr="000000"/>
                  </a:solidFill>
                </a:rPr>
                <a:t>バッファ</a:t>
              </a:r>
              <a:endParaRPr kumimoji="1" lang="ja-JP" altLang="en-US" sz="10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6" name="コネクタ: カギ線 15">
              <a:extLst>
                <a:ext uri="{FF2B5EF4-FFF2-40B4-BE49-F238E27FC236}">
                  <a16:creationId xmlns:a16="http://schemas.microsoft.com/office/drawing/2014/main" id="{5A8C8252-F486-A6F4-9AD1-3721E98C41AA}"/>
                </a:ext>
              </a:extLst>
            </p:cNvPr>
            <p:cNvCxnSpPr>
              <a:stCxn id="11" idx="3"/>
            </p:cNvCxnSpPr>
            <p:nvPr/>
          </p:nvCxnSpPr>
          <p:spPr>
            <a:xfrm>
              <a:off x="2739628" y="2176462"/>
              <a:ext cx="108347" cy="766761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DC5EA894-4974-ED8A-F511-FB8EDE435BCC}"/>
                </a:ext>
              </a:extLst>
            </p:cNvPr>
            <p:cNvSpPr/>
            <p:nvPr/>
          </p:nvSpPr>
          <p:spPr>
            <a:xfrm>
              <a:off x="1023937" y="3952874"/>
              <a:ext cx="885825" cy="485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00" dirty="0">
                  <a:solidFill>
                    <a:sysClr val="windowText" lastClr="000000"/>
                  </a:solidFill>
                </a:rPr>
                <a:t>ステップ</a:t>
              </a:r>
              <a:endParaRPr kumimoji="1" lang="en-US" altLang="ja-JP" sz="1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altLang="ja-JP" sz="1000" dirty="0">
                  <a:solidFill>
                    <a:sysClr val="windowText" lastClr="000000"/>
                  </a:solidFill>
                </a:rPr>
                <a:t>B1</a:t>
              </a:r>
              <a:endParaRPr kumimoji="1" lang="ja-JP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4FDAB2C2-D98E-74D8-8DBA-698E5F32016C}"/>
                </a:ext>
              </a:extLst>
            </p:cNvPr>
            <p:cNvSpPr/>
            <p:nvPr/>
          </p:nvSpPr>
          <p:spPr>
            <a:xfrm>
              <a:off x="1962150" y="3952874"/>
              <a:ext cx="885825" cy="4857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00" dirty="0">
                  <a:solidFill>
                    <a:sysClr val="windowText" lastClr="000000"/>
                  </a:solidFill>
                </a:rPr>
                <a:t>ステップ</a:t>
              </a:r>
              <a:endParaRPr kumimoji="1" lang="en-US" altLang="ja-JP" sz="10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en-US" altLang="ja-JP" sz="1000" dirty="0">
                  <a:solidFill>
                    <a:sysClr val="windowText" lastClr="000000"/>
                  </a:solidFill>
                </a:rPr>
                <a:t>B2</a:t>
              </a:r>
              <a:endParaRPr kumimoji="1" lang="ja-JP" altLang="en-US" sz="10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台形 18">
              <a:extLst>
                <a:ext uri="{FF2B5EF4-FFF2-40B4-BE49-F238E27FC236}">
                  <a16:creationId xmlns:a16="http://schemas.microsoft.com/office/drawing/2014/main" id="{7B15C24C-C56B-4928-60DB-E501E18F7BAE}"/>
                </a:ext>
              </a:extLst>
            </p:cNvPr>
            <p:cNvSpPr/>
            <p:nvPr/>
          </p:nvSpPr>
          <p:spPr>
            <a:xfrm>
              <a:off x="2895600" y="3940966"/>
              <a:ext cx="1390650" cy="485775"/>
            </a:xfrm>
            <a:prstGeom prst="trapezoid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000" dirty="0">
                  <a:solidFill>
                    <a:sysClr val="windowText" lastClr="000000"/>
                  </a:solidFill>
                </a:rPr>
                <a:t>バッファ</a:t>
              </a:r>
              <a:endParaRPr kumimoji="1" lang="ja-JP" altLang="en-US" sz="10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21" name="コネクタ: カギ線 20">
              <a:extLst>
                <a:ext uri="{FF2B5EF4-FFF2-40B4-BE49-F238E27FC236}">
                  <a16:creationId xmlns:a16="http://schemas.microsoft.com/office/drawing/2014/main" id="{E46A7641-B691-F8A1-1BAC-77B9CA197A3A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 flipV="1">
              <a:off x="4225528" y="3428998"/>
              <a:ext cx="175022" cy="75485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7F7CF913-23C5-B275-C82D-8D237E7FEB5B}"/>
                </a:ext>
              </a:extLst>
            </p:cNvPr>
            <p:cNvSpPr txBox="1"/>
            <p:nvPr/>
          </p:nvSpPr>
          <p:spPr>
            <a:xfrm>
              <a:off x="4869573" y="4515740"/>
              <a:ext cx="35958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400" dirty="0"/>
                <a:t>バッファは各工程の見積もりを削って捻出</a:t>
              </a:r>
            </a:p>
          </p:txBody>
        </p:sp>
        <p:cxnSp>
          <p:nvCxnSpPr>
            <p:cNvPr id="31" name="直線矢印コネクタ 30">
              <a:extLst>
                <a:ext uri="{FF2B5EF4-FFF2-40B4-BE49-F238E27FC236}">
                  <a16:creationId xmlns:a16="http://schemas.microsoft.com/office/drawing/2014/main" id="{89971423-8CC3-2507-8601-764C856394C3}"/>
                </a:ext>
              </a:extLst>
            </p:cNvPr>
            <p:cNvCxnSpPr>
              <a:cxnSpLocks/>
              <a:stCxn id="27" idx="1"/>
            </p:cNvCxnSpPr>
            <p:nvPr/>
          </p:nvCxnSpPr>
          <p:spPr>
            <a:xfrm flipH="1" flipV="1">
              <a:off x="3981450" y="4438649"/>
              <a:ext cx="888123" cy="2309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線矢印コネクタ 5">
              <a:extLst>
                <a:ext uri="{FF2B5EF4-FFF2-40B4-BE49-F238E27FC236}">
                  <a16:creationId xmlns:a16="http://schemas.microsoft.com/office/drawing/2014/main" id="{840A31C8-46EC-960B-1049-949876CF3F2F}"/>
                </a:ext>
              </a:extLst>
            </p:cNvPr>
            <p:cNvCxnSpPr/>
            <p:nvPr/>
          </p:nvCxnSpPr>
          <p:spPr>
            <a:xfrm>
              <a:off x="704850" y="3590925"/>
              <a:ext cx="800100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77C40C44-53F8-D158-9550-B83DC6151F62}"/>
                </a:ext>
              </a:extLst>
            </p:cNvPr>
            <p:cNvSpPr txBox="1"/>
            <p:nvPr/>
          </p:nvSpPr>
          <p:spPr>
            <a:xfrm>
              <a:off x="6989644" y="3623662"/>
              <a:ext cx="16209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400" dirty="0">
                  <a:solidFill>
                    <a:schemeClr val="accent2"/>
                  </a:solidFill>
                </a:rPr>
                <a:t>クリティカルパス</a:t>
              </a:r>
            </a:p>
          </p:txBody>
        </p:sp>
        <p:cxnSp>
          <p:nvCxnSpPr>
            <p:cNvPr id="29" name="直線矢印コネクタ 28">
              <a:extLst>
                <a:ext uri="{FF2B5EF4-FFF2-40B4-BE49-F238E27FC236}">
                  <a16:creationId xmlns:a16="http://schemas.microsoft.com/office/drawing/2014/main" id="{9C83F459-0F27-5CB6-0C0E-20700CB93B18}"/>
                </a:ext>
              </a:extLst>
            </p:cNvPr>
            <p:cNvCxnSpPr>
              <a:stCxn id="27" idx="0"/>
              <a:endCxn id="8" idx="2"/>
            </p:cNvCxnSpPr>
            <p:nvPr/>
          </p:nvCxnSpPr>
          <p:spPr>
            <a:xfrm flipV="1">
              <a:off x="6667501" y="3428998"/>
              <a:ext cx="409575" cy="108674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31598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グループ化 95">
            <a:extLst>
              <a:ext uri="{FF2B5EF4-FFF2-40B4-BE49-F238E27FC236}">
                <a16:creationId xmlns:a16="http://schemas.microsoft.com/office/drawing/2014/main" id="{22E832A0-8853-D5C6-1701-6732E474793C}"/>
              </a:ext>
            </a:extLst>
          </p:cNvPr>
          <p:cNvGrpSpPr/>
          <p:nvPr/>
        </p:nvGrpSpPr>
        <p:grpSpPr>
          <a:xfrm>
            <a:off x="590550" y="514341"/>
            <a:ext cx="11196637" cy="5529279"/>
            <a:chOff x="590550" y="514341"/>
            <a:chExt cx="11196637" cy="5529279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BCAD6EDE-3BE5-BA5B-3B25-87A8408E3119}"/>
                </a:ext>
              </a:extLst>
            </p:cNvPr>
            <p:cNvSpPr/>
            <p:nvPr/>
          </p:nvSpPr>
          <p:spPr>
            <a:xfrm>
              <a:off x="3390900" y="5443540"/>
              <a:ext cx="1914525" cy="6000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200" dirty="0">
                  <a:solidFill>
                    <a:sysClr val="windowText" lastClr="000000"/>
                  </a:solidFill>
                </a:rPr>
                <a:t>実はセーフティは大量に組み込まれている</a:t>
              </a:r>
              <a:endParaRPr kumimoji="1" lang="ja-JP" altLang="en-US" sz="1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D91718E6-718C-5F17-1C47-0C18E28DE1D6}"/>
                </a:ext>
              </a:extLst>
            </p:cNvPr>
            <p:cNvSpPr/>
            <p:nvPr/>
          </p:nvSpPr>
          <p:spPr>
            <a:xfrm>
              <a:off x="5885326" y="5443545"/>
              <a:ext cx="1914525" cy="6000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200" dirty="0">
                  <a:solidFill>
                    <a:sysClr val="windowText" lastClr="000000"/>
                  </a:solidFill>
                </a:rPr>
                <a:t>セーフティは浪費される</a:t>
              </a:r>
              <a:endParaRPr kumimoji="1" lang="ja-JP" altLang="en-US" sz="1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4C37F27B-B0E4-E497-A45C-27808C40F27C}"/>
                </a:ext>
              </a:extLst>
            </p:cNvPr>
            <p:cNvSpPr/>
            <p:nvPr/>
          </p:nvSpPr>
          <p:spPr>
            <a:xfrm>
              <a:off x="7153276" y="514341"/>
              <a:ext cx="1914525" cy="6000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 dirty="0">
                  <a:solidFill>
                    <a:sysClr val="windowText" lastClr="000000"/>
                  </a:solidFill>
                </a:rPr>
                <a:t>クリティカルパスの遅れはプロジェクトの遅れ</a:t>
              </a: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001C37E5-B2D0-B2ED-9173-6792E33735A6}"/>
                </a:ext>
              </a:extLst>
            </p:cNvPr>
            <p:cNvSpPr/>
            <p:nvPr/>
          </p:nvSpPr>
          <p:spPr>
            <a:xfrm>
              <a:off x="933450" y="514347"/>
              <a:ext cx="1914525" cy="6000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 dirty="0">
                  <a:solidFill>
                    <a:sysClr val="windowText" lastClr="000000"/>
                  </a:solidFill>
                </a:rPr>
                <a:t>TOC</a:t>
              </a:r>
            </a:p>
            <a:p>
              <a:pPr algn="ctr"/>
              <a:r>
                <a:rPr lang="ja-JP" altLang="en-US" sz="1200" dirty="0">
                  <a:solidFill>
                    <a:sysClr val="windowText" lastClr="000000"/>
                  </a:solidFill>
                </a:rPr>
                <a:t>制約条件を見つけて</a:t>
              </a:r>
              <a:endParaRPr lang="en-US" altLang="ja-JP" sz="12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ja-JP" altLang="en-US" sz="1200" dirty="0">
                  <a:solidFill>
                    <a:sysClr val="windowText" lastClr="000000"/>
                  </a:solidFill>
                </a:rPr>
                <a:t>徹底活用する</a:t>
              </a:r>
              <a:endParaRPr kumimoji="1" lang="ja-JP" altLang="en-US" sz="1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D717E723-330D-DC8A-B970-23C8AB4DB3B0}"/>
                </a:ext>
              </a:extLst>
            </p:cNvPr>
            <p:cNvSpPr/>
            <p:nvPr/>
          </p:nvSpPr>
          <p:spPr>
            <a:xfrm>
              <a:off x="4043363" y="514344"/>
              <a:ext cx="1914525" cy="6000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 dirty="0">
                  <a:solidFill>
                    <a:sysClr val="windowText" lastClr="000000"/>
                  </a:solidFill>
                </a:rPr>
                <a:t>プロジェクトの制約条件はクリティカルパス</a:t>
              </a:r>
            </a:p>
          </p:txBody>
        </p: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5B0B80BB-A283-D4BD-7E1F-BA0C723B8E89}"/>
                </a:ext>
              </a:extLst>
            </p:cNvPr>
            <p:cNvCxnSpPr>
              <a:stCxn id="4" idx="1"/>
              <a:endCxn id="7" idx="3"/>
            </p:cNvCxnSpPr>
            <p:nvPr/>
          </p:nvCxnSpPr>
          <p:spPr>
            <a:xfrm flipH="1">
              <a:off x="5957888" y="814379"/>
              <a:ext cx="1195388" cy="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BBB3BB9C-2506-9352-5D89-897C25DBE69D}"/>
                </a:ext>
              </a:extLst>
            </p:cNvPr>
            <p:cNvSpPr/>
            <p:nvPr/>
          </p:nvSpPr>
          <p:spPr>
            <a:xfrm>
              <a:off x="2566988" y="1704970"/>
              <a:ext cx="1914525" cy="60007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 b="1" dirty="0">
                  <a:solidFill>
                    <a:sysClr val="windowText" lastClr="000000"/>
                  </a:solidFill>
                </a:rPr>
                <a:t>クリティカルパスを</a:t>
              </a:r>
              <a:endParaRPr kumimoji="1" lang="en-US" altLang="ja-JP" sz="1200" b="1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ja-JP" altLang="en-US" sz="1200" b="1" dirty="0">
                  <a:solidFill>
                    <a:sysClr val="windowText" lastClr="000000"/>
                  </a:solidFill>
                </a:rPr>
                <a:t>徹底活用</a:t>
              </a:r>
              <a:endParaRPr kumimoji="1" lang="ja-JP" altLang="en-US" sz="1200" b="1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0DF80CD6-D8E3-0F2F-31D5-7487BB0D17D7}"/>
                </a:ext>
              </a:extLst>
            </p:cNvPr>
            <p:cNvCxnSpPr>
              <a:stCxn id="5" idx="2"/>
              <a:endCxn id="10" idx="0"/>
            </p:cNvCxnSpPr>
            <p:nvPr/>
          </p:nvCxnSpPr>
          <p:spPr>
            <a:xfrm>
              <a:off x="1890713" y="1114422"/>
              <a:ext cx="1633538" cy="59054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49863461-8644-F08D-80A5-EBF19831F46A}"/>
                </a:ext>
              </a:extLst>
            </p:cNvPr>
            <p:cNvCxnSpPr>
              <a:stCxn id="7" idx="2"/>
              <a:endCxn id="10" idx="0"/>
            </p:cNvCxnSpPr>
            <p:nvPr/>
          </p:nvCxnSpPr>
          <p:spPr>
            <a:xfrm flipH="1">
              <a:off x="3524251" y="1114419"/>
              <a:ext cx="1476375" cy="59055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D2D12EA9-0767-2762-7CC5-18C1594E97B3}"/>
                </a:ext>
              </a:extLst>
            </p:cNvPr>
            <p:cNvSpPr/>
            <p:nvPr/>
          </p:nvSpPr>
          <p:spPr>
            <a:xfrm>
              <a:off x="2566988" y="3240870"/>
              <a:ext cx="1914525" cy="6000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 dirty="0">
                  <a:solidFill>
                    <a:sysClr val="windowText" lastClr="000000"/>
                  </a:solidFill>
                </a:rPr>
                <a:t>クリティカルパスへの</a:t>
              </a:r>
              <a:endParaRPr kumimoji="1" lang="en-US" altLang="ja-JP" sz="12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kumimoji="1" lang="ja-JP" altLang="en-US" sz="1200" dirty="0">
                  <a:solidFill>
                    <a:sysClr val="windowText" lastClr="000000"/>
                  </a:solidFill>
                </a:rPr>
                <a:t>合流点にバッファ</a:t>
              </a:r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7DE65313-B0B4-DC18-40C5-61376C32B6C4}"/>
                </a:ext>
              </a:extLst>
            </p:cNvPr>
            <p:cNvSpPr/>
            <p:nvPr/>
          </p:nvSpPr>
          <p:spPr>
            <a:xfrm>
              <a:off x="4543426" y="3240870"/>
              <a:ext cx="1914525" cy="6000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 dirty="0">
                  <a:solidFill>
                    <a:sysClr val="windowText" lastClr="000000"/>
                  </a:solidFill>
                </a:rPr>
                <a:t>各工程の期限廃止</a:t>
              </a:r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18663DF6-3634-E2BF-469B-850BFEC194D5}"/>
                </a:ext>
              </a:extLst>
            </p:cNvPr>
            <p:cNvSpPr/>
            <p:nvPr/>
          </p:nvSpPr>
          <p:spPr>
            <a:xfrm>
              <a:off x="590550" y="3240870"/>
              <a:ext cx="1914525" cy="6000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 dirty="0">
                  <a:solidFill>
                    <a:sysClr val="windowText" lastClr="000000"/>
                  </a:solidFill>
                </a:rPr>
                <a:t>リソースへの</a:t>
              </a:r>
              <a:endParaRPr kumimoji="1" lang="en-US" altLang="ja-JP" sz="12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lang="ja-JP" altLang="en-US" sz="1200" dirty="0">
                  <a:solidFill>
                    <a:sysClr val="windowText" lastClr="000000"/>
                  </a:solidFill>
                </a:rPr>
                <a:t>事前リマインド</a:t>
              </a:r>
              <a:endParaRPr kumimoji="1" lang="ja-JP" altLang="en-US" sz="1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37960F34-CC84-A2B2-1454-593DE1332C03}"/>
                </a:ext>
              </a:extLst>
            </p:cNvPr>
            <p:cNvSpPr/>
            <p:nvPr/>
          </p:nvSpPr>
          <p:spPr>
            <a:xfrm>
              <a:off x="1890713" y="4552955"/>
              <a:ext cx="1914525" cy="6000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200" dirty="0">
                  <a:solidFill>
                    <a:sysClr val="windowText" lastClr="000000"/>
                  </a:solidFill>
                </a:rPr>
                <a:t>各工程のセーフティからバッファを捻出</a:t>
              </a:r>
              <a:endParaRPr kumimoji="1" lang="ja-JP" altLang="en-US" sz="120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27" name="直線矢印コネクタ 26">
              <a:extLst>
                <a:ext uri="{FF2B5EF4-FFF2-40B4-BE49-F238E27FC236}">
                  <a16:creationId xmlns:a16="http://schemas.microsoft.com/office/drawing/2014/main" id="{5CC71CE9-72B8-A826-7689-312BEF00BE91}"/>
                </a:ext>
              </a:extLst>
            </p:cNvPr>
            <p:cNvCxnSpPr>
              <a:cxnSpLocks/>
              <a:stCxn id="18" idx="0"/>
            </p:cNvCxnSpPr>
            <p:nvPr/>
          </p:nvCxnSpPr>
          <p:spPr>
            <a:xfrm flipV="1">
              <a:off x="1547813" y="2314567"/>
              <a:ext cx="1633537" cy="92630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矢印コネクタ 28">
              <a:extLst>
                <a:ext uri="{FF2B5EF4-FFF2-40B4-BE49-F238E27FC236}">
                  <a16:creationId xmlns:a16="http://schemas.microsoft.com/office/drawing/2014/main" id="{B776AFA8-80E6-8C1A-FF98-4DDCBB86E681}"/>
                </a:ext>
              </a:extLst>
            </p:cNvPr>
            <p:cNvCxnSpPr>
              <a:stCxn id="16" idx="0"/>
              <a:endCxn id="10" idx="2"/>
            </p:cNvCxnSpPr>
            <p:nvPr/>
          </p:nvCxnSpPr>
          <p:spPr>
            <a:xfrm flipV="1">
              <a:off x="3524251" y="2305045"/>
              <a:ext cx="0" cy="93582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矢印コネクタ 30">
              <a:extLst>
                <a:ext uri="{FF2B5EF4-FFF2-40B4-BE49-F238E27FC236}">
                  <a16:creationId xmlns:a16="http://schemas.microsoft.com/office/drawing/2014/main" id="{F4A41DF2-C8A9-1B2A-F92B-B62F6C92E833}"/>
                </a:ext>
              </a:extLst>
            </p:cNvPr>
            <p:cNvCxnSpPr>
              <a:cxnSpLocks/>
              <a:stCxn id="17" idx="0"/>
            </p:cNvCxnSpPr>
            <p:nvPr/>
          </p:nvCxnSpPr>
          <p:spPr>
            <a:xfrm flipH="1" flipV="1">
              <a:off x="3912243" y="2314564"/>
              <a:ext cx="1588446" cy="92630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矢印コネクタ 32">
              <a:extLst>
                <a:ext uri="{FF2B5EF4-FFF2-40B4-BE49-F238E27FC236}">
                  <a16:creationId xmlns:a16="http://schemas.microsoft.com/office/drawing/2014/main" id="{910EAD4D-16C5-ED82-1451-BCD33CCDF626}"/>
                </a:ext>
              </a:extLst>
            </p:cNvPr>
            <p:cNvCxnSpPr>
              <a:stCxn id="25" idx="0"/>
              <a:endCxn id="16" idx="2"/>
            </p:cNvCxnSpPr>
            <p:nvPr/>
          </p:nvCxnSpPr>
          <p:spPr>
            <a:xfrm flipV="1">
              <a:off x="2847976" y="3840945"/>
              <a:ext cx="676275" cy="7120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矢印コネクタ 34">
              <a:extLst>
                <a:ext uri="{FF2B5EF4-FFF2-40B4-BE49-F238E27FC236}">
                  <a16:creationId xmlns:a16="http://schemas.microsoft.com/office/drawing/2014/main" id="{EE77076E-B082-1F84-A40E-1ABCDF2137D6}"/>
                </a:ext>
              </a:extLst>
            </p:cNvPr>
            <p:cNvCxnSpPr>
              <a:cxnSpLocks/>
              <a:stCxn id="2" idx="1"/>
              <a:endCxn id="25" idx="2"/>
            </p:cNvCxnSpPr>
            <p:nvPr/>
          </p:nvCxnSpPr>
          <p:spPr>
            <a:xfrm flipH="1" flipV="1">
              <a:off x="2847976" y="5153030"/>
              <a:ext cx="542924" cy="59054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矢印コネクタ 36">
              <a:extLst>
                <a:ext uri="{FF2B5EF4-FFF2-40B4-BE49-F238E27FC236}">
                  <a16:creationId xmlns:a16="http://schemas.microsoft.com/office/drawing/2014/main" id="{23E6B030-E611-D1B8-2430-FD7869D14876}"/>
                </a:ext>
              </a:extLst>
            </p:cNvPr>
            <p:cNvCxnSpPr>
              <a:stCxn id="3" idx="1"/>
              <a:endCxn id="2" idx="3"/>
            </p:cNvCxnSpPr>
            <p:nvPr/>
          </p:nvCxnSpPr>
          <p:spPr>
            <a:xfrm flipH="1" flipV="1">
              <a:off x="5305425" y="5743578"/>
              <a:ext cx="579901" cy="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115200A9-238A-3643-8304-D8409717388F}"/>
                </a:ext>
              </a:extLst>
            </p:cNvPr>
            <p:cNvSpPr/>
            <p:nvPr/>
          </p:nvSpPr>
          <p:spPr>
            <a:xfrm>
              <a:off x="6872287" y="3650453"/>
              <a:ext cx="1914525" cy="6000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 dirty="0">
                  <a:solidFill>
                    <a:sysClr val="windowText" lastClr="000000"/>
                  </a:solidFill>
                </a:rPr>
                <a:t>前工程が早く終わると次工程が早く始められる</a:t>
              </a: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6DF3F0FE-72EB-83D3-1D4F-73C3BE15D497}"/>
                </a:ext>
              </a:extLst>
            </p:cNvPr>
            <p:cNvSpPr/>
            <p:nvPr/>
          </p:nvSpPr>
          <p:spPr>
            <a:xfrm>
              <a:off x="9653585" y="4591048"/>
              <a:ext cx="1914525" cy="6000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200" dirty="0">
                  <a:solidFill>
                    <a:sysClr val="windowText" lastClr="000000"/>
                  </a:solidFill>
                </a:rPr>
                <a:t>マルチタスク</a:t>
              </a:r>
              <a:endParaRPr kumimoji="1" lang="ja-JP" altLang="en-US" sz="1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D7805F5F-DF12-27E8-33BA-45824439C821}"/>
                </a:ext>
              </a:extLst>
            </p:cNvPr>
            <p:cNvSpPr/>
            <p:nvPr/>
          </p:nvSpPr>
          <p:spPr>
            <a:xfrm>
              <a:off x="9653585" y="3713552"/>
              <a:ext cx="1914525" cy="6000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 dirty="0">
                  <a:solidFill>
                    <a:sysClr val="windowText" lastClr="000000"/>
                  </a:solidFill>
                </a:rPr>
                <a:t>遅れのみ蓄積</a:t>
              </a:r>
              <a:endParaRPr kumimoji="1" lang="en-US" altLang="ja-JP" sz="1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14072C5B-493B-CB0B-44CE-41648322D60D}"/>
                </a:ext>
              </a:extLst>
            </p:cNvPr>
            <p:cNvSpPr/>
            <p:nvPr/>
          </p:nvSpPr>
          <p:spPr>
            <a:xfrm>
              <a:off x="9653585" y="2836056"/>
              <a:ext cx="1914525" cy="6000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1200" dirty="0">
                  <a:solidFill>
                    <a:sysClr val="windowText" lastClr="000000"/>
                  </a:solidFill>
                </a:rPr>
                <a:t>学生症候群</a:t>
              </a:r>
              <a:endParaRPr kumimoji="1" lang="ja-JP" altLang="en-US" sz="1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BBE4FBDF-8FCD-6AC6-EA4A-F9E8BFE11A55}"/>
                </a:ext>
              </a:extLst>
            </p:cNvPr>
            <p:cNvSpPr/>
            <p:nvPr/>
          </p:nvSpPr>
          <p:spPr>
            <a:xfrm>
              <a:off x="9501187" y="2695574"/>
              <a:ext cx="2286000" cy="269557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テキスト ボックス 43">
              <a:extLst>
                <a:ext uri="{FF2B5EF4-FFF2-40B4-BE49-F238E27FC236}">
                  <a16:creationId xmlns:a16="http://schemas.microsoft.com/office/drawing/2014/main" id="{282EA494-873E-EC4D-EB09-2DEAEAAD9909}"/>
                </a:ext>
              </a:extLst>
            </p:cNvPr>
            <p:cNvSpPr txBox="1"/>
            <p:nvPr/>
          </p:nvSpPr>
          <p:spPr>
            <a:xfrm>
              <a:off x="10038893" y="2396298"/>
              <a:ext cx="12105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600" dirty="0">
                  <a:solidFill>
                    <a:srgbClr val="FF0000"/>
                  </a:solidFill>
                </a:rPr>
                <a:t>遅れの原因</a:t>
              </a:r>
            </a:p>
          </p:txBody>
        </p:sp>
        <p:cxnSp>
          <p:nvCxnSpPr>
            <p:cNvPr id="46" name="直線矢印コネクタ 45">
              <a:extLst>
                <a:ext uri="{FF2B5EF4-FFF2-40B4-BE49-F238E27FC236}">
                  <a16:creationId xmlns:a16="http://schemas.microsoft.com/office/drawing/2014/main" id="{6225C9D9-E10D-C766-D68E-47B92F1BF315}"/>
                </a:ext>
              </a:extLst>
            </p:cNvPr>
            <p:cNvCxnSpPr>
              <a:cxnSpLocks/>
              <a:endCxn id="3" idx="3"/>
            </p:cNvCxnSpPr>
            <p:nvPr/>
          </p:nvCxnSpPr>
          <p:spPr>
            <a:xfrm flipH="1">
              <a:off x="7799851" y="4852992"/>
              <a:ext cx="1701336" cy="89059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矢印コネクタ 48">
              <a:extLst>
                <a:ext uri="{FF2B5EF4-FFF2-40B4-BE49-F238E27FC236}">
                  <a16:creationId xmlns:a16="http://schemas.microsoft.com/office/drawing/2014/main" id="{05BF4607-A52A-C8F5-40A3-984C944CEA49}"/>
                </a:ext>
              </a:extLst>
            </p:cNvPr>
            <p:cNvCxnSpPr>
              <a:stCxn id="17" idx="3"/>
              <a:endCxn id="42" idx="1"/>
            </p:cNvCxnSpPr>
            <p:nvPr/>
          </p:nvCxnSpPr>
          <p:spPr>
            <a:xfrm flipV="1">
              <a:off x="6457951" y="3136094"/>
              <a:ext cx="3195634" cy="404814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E33A994E-34D5-BF17-B7FD-22E1623E7E81}"/>
                </a:ext>
              </a:extLst>
            </p:cNvPr>
            <p:cNvSpPr txBox="1"/>
            <p:nvPr/>
          </p:nvSpPr>
          <p:spPr>
            <a:xfrm>
              <a:off x="7485121" y="3086981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400" dirty="0"/>
                <a:t>対策</a:t>
              </a:r>
            </a:p>
          </p:txBody>
        </p:sp>
        <p:cxnSp>
          <p:nvCxnSpPr>
            <p:cNvPr id="52" name="直線矢印コネクタ 51">
              <a:extLst>
                <a:ext uri="{FF2B5EF4-FFF2-40B4-BE49-F238E27FC236}">
                  <a16:creationId xmlns:a16="http://schemas.microsoft.com/office/drawing/2014/main" id="{4941FC8D-7620-618C-09C6-658AD821DB7A}"/>
                </a:ext>
              </a:extLst>
            </p:cNvPr>
            <p:cNvCxnSpPr>
              <a:stCxn id="17" idx="3"/>
              <a:endCxn id="39" idx="1"/>
            </p:cNvCxnSpPr>
            <p:nvPr/>
          </p:nvCxnSpPr>
          <p:spPr>
            <a:xfrm>
              <a:off x="6457951" y="3540908"/>
              <a:ext cx="414336" cy="4095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矢印コネクタ 53">
              <a:extLst>
                <a:ext uri="{FF2B5EF4-FFF2-40B4-BE49-F238E27FC236}">
                  <a16:creationId xmlns:a16="http://schemas.microsoft.com/office/drawing/2014/main" id="{0F956B19-ABE6-1ED5-F2CB-28B7428EC76A}"/>
                </a:ext>
              </a:extLst>
            </p:cNvPr>
            <p:cNvCxnSpPr>
              <a:stCxn id="39" idx="3"/>
              <a:endCxn id="41" idx="1"/>
            </p:cNvCxnSpPr>
            <p:nvPr/>
          </p:nvCxnSpPr>
          <p:spPr>
            <a:xfrm>
              <a:off x="8786812" y="3950491"/>
              <a:ext cx="866773" cy="63099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086827DE-92DB-7C7E-6332-7FA894D824ED}"/>
                </a:ext>
              </a:extLst>
            </p:cNvPr>
            <p:cNvSpPr txBox="1"/>
            <p:nvPr/>
          </p:nvSpPr>
          <p:spPr>
            <a:xfrm>
              <a:off x="8833620" y="3734386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400" dirty="0"/>
                <a:t>対策</a:t>
              </a:r>
            </a:p>
          </p:txBody>
        </p:sp>
        <p:cxnSp>
          <p:nvCxnSpPr>
            <p:cNvPr id="60" name="コネクタ: カギ線 59">
              <a:extLst>
                <a:ext uri="{FF2B5EF4-FFF2-40B4-BE49-F238E27FC236}">
                  <a16:creationId xmlns:a16="http://schemas.microsoft.com/office/drawing/2014/main" id="{1ECC1996-461E-2DBC-5E31-EC131A7E5C89}"/>
                </a:ext>
              </a:extLst>
            </p:cNvPr>
            <p:cNvCxnSpPr>
              <a:stCxn id="18" idx="2"/>
            </p:cNvCxnSpPr>
            <p:nvPr/>
          </p:nvCxnSpPr>
          <p:spPr>
            <a:xfrm rot="16200000" flipH="1">
              <a:off x="4109441" y="1279317"/>
              <a:ext cx="201218" cy="5324474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E3DE4697-4B48-93B8-7247-76DEA43492C7}"/>
                </a:ext>
              </a:extLst>
            </p:cNvPr>
            <p:cNvSpPr/>
            <p:nvPr/>
          </p:nvSpPr>
          <p:spPr>
            <a:xfrm>
              <a:off x="5778732" y="4543433"/>
              <a:ext cx="1914525" cy="6000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 dirty="0">
                  <a:solidFill>
                    <a:sysClr val="windowText" lastClr="000000"/>
                  </a:solidFill>
                </a:rPr>
                <a:t>各工程の作業に</a:t>
              </a:r>
              <a:endParaRPr kumimoji="1" lang="en-US" altLang="ja-JP" sz="1200" dirty="0">
                <a:solidFill>
                  <a:sysClr val="windowText" lastClr="000000"/>
                </a:solidFill>
              </a:endParaRPr>
            </a:p>
            <a:p>
              <a:pPr algn="ctr"/>
              <a:r>
                <a:rPr kumimoji="1" lang="ja-JP" altLang="en-US" sz="1200" dirty="0">
                  <a:solidFill>
                    <a:sysClr val="windowText" lastClr="000000"/>
                  </a:solidFill>
                </a:rPr>
                <a:t>専念する</a:t>
              </a:r>
            </a:p>
          </p:txBody>
        </p:sp>
        <p:cxnSp>
          <p:nvCxnSpPr>
            <p:cNvPr id="84" name="コネクタ: カギ線 83">
              <a:extLst>
                <a:ext uri="{FF2B5EF4-FFF2-40B4-BE49-F238E27FC236}">
                  <a16:creationId xmlns:a16="http://schemas.microsoft.com/office/drawing/2014/main" id="{DD0145E7-0E10-A7DC-4AC0-7E3A4BDB45E8}"/>
                </a:ext>
              </a:extLst>
            </p:cNvPr>
            <p:cNvCxnSpPr>
              <a:stCxn id="18" idx="2"/>
              <a:endCxn id="72" idx="0"/>
            </p:cNvCxnSpPr>
            <p:nvPr/>
          </p:nvCxnSpPr>
          <p:spPr>
            <a:xfrm rot="16200000" flipH="1">
              <a:off x="3790660" y="1598098"/>
              <a:ext cx="702488" cy="5188182"/>
            </a:xfrm>
            <a:prstGeom prst="bentConnector3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コネクタ: カギ線 85">
              <a:extLst>
                <a:ext uri="{FF2B5EF4-FFF2-40B4-BE49-F238E27FC236}">
                  <a16:creationId xmlns:a16="http://schemas.microsoft.com/office/drawing/2014/main" id="{6A5EF427-63EF-832D-75C1-92591AB1D539}"/>
                </a:ext>
              </a:extLst>
            </p:cNvPr>
            <p:cNvCxnSpPr>
              <a:stCxn id="17" idx="2"/>
              <a:endCxn id="72" idx="1"/>
            </p:cNvCxnSpPr>
            <p:nvPr/>
          </p:nvCxnSpPr>
          <p:spPr>
            <a:xfrm rot="16200000" flipH="1">
              <a:off x="5138447" y="4203186"/>
              <a:ext cx="1002526" cy="278043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矢印コネクタ 87">
              <a:extLst>
                <a:ext uri="{FF2B5EF4-FFF2-40B4-BE49-F238E27FC236}">
                  <a16:creationId xmlns:a16="http://schemas.microsoft.com/office/drawing/2014/main" id="{C2BF80E5-C3AA-169C-53A6-3CB937139D45}"/>
                </a:ext>
              </a:extLst>
            </p:cNvPr>
            <p:cNvCxnSpPr>
              <a:stCxn id="72" idx="3"/>
              <a:endCxn id="40" idx="1"/>
            </p:cNvCxnSpPr>
            <p:nvPr/>
          </p:nvCxnSpPr>
          <p:spPr>
            <a:xfrm>
              <a:off x="7693257" y="4843471"/>
              <a:ext cx="1960328" cy="47615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テキスト ボックス 88">
              <a:extLst>
                <a:ext uri="{FF2B5EF4-FFF2-40B4-BE49-F238E27FC236}">
                  <a16:creationId xmlns:a16="http://schemas.microsoft.com/office/drawing/2014/main" id="{59CAAEAD-164B-9B3F-26F1-1A5F971683E0}"/>
                </a:ext>
              </a:extLst>
            </p:cNvPr>
            <p:cNvSpPr txBox="1"/>
            <p:nvPr/>
          </p:nvSpPr>
          <p:spPr>
            <a:xfrm>
              <a:off x="8272054" y="4583610"/>
              <a:ext cx="54373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400" dirty="0"/>
                <a:t>対策</a:t>
              </a:r>
            </a:p>
          </p:txBody>
        </p:sp>
        <p:sp>
          <p:nvSpPr>
            <p:cNvPr id="90" name="テキスト ボックス 89">
              <a:extLst>
                <a:ext uri="{FF2B5EF4-FFF2-40B4-BE49-F238E27FC236}">
                  <a16:creationId xmlns:a16="http://schemas.microsoft.com/office/drawing/2014/main" id="{85E49CDF-CEE4-00B4-24D8-A85B916E0902}"/>
                </a:ext>
              </a:extLst>
            </p:cNvPr>
            <p:cNvSpPr txBox="1"/>
            <p:nvPr/>
          </p:nvSpPr>
          <p:spPr>
            <a:xfrm>
              <a:off x="890901" y="2991736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400" dirty="0"/>
                <a:t>手法①</a:t>
              </a:r>
            </a:p>
          </p:txBody>
        </p:sp>
        <p:sp>
          <p:nvSpPr>
            <p:cNvPr id="91" name="テキスト ボックス 90">
              <a:extLst>
                <a:ext uri="{FF2B5EF4-FFF2-40B4-BE49-F238E27FC236}">
                  <a16:creationId xmlns:a16="http://schemas.microsoft.com/office/drawing/2014/main" id="{E8B7F3C6-C4AC-F754-5CF0-478611063E29}"/>
                </a:ext>
              </a:extLst>
            </p:cNvPr>
            <p:cNvSpPr txBox="1"/>
            <p:nvPr/>
          </p:nvSpPr>
          <p:spPr>
            <a:xfrm>
              <a:off x="2879745" y="2950360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400" dirty="0"/>
                <a:t>手法②</a:t>
              </a:r>
            </a:p>
          </p:txBody>
        </p:sp>
        <p:sp>
          <p:nvSpPr>
            <p:cNvPr id="92" name="テキスト ボックス 91">
              <a:extLst>
                <a:ext uri="{FF2B5EF4-FFF2-40B4-BE49-F238E27FC236}">
                  <a16:creationId xmlns:a16="http://schemas.microsoft.com/office/drawing/2014/main" id="{3D617C2E-108C-A245-4A36-A8326AECA139}"/>
                </a:ext>
              </a:extLst>
            </p:cNvPr>
            <p:cNvSpPr txBox="1"/>
            <p:nvPr/>
          </p:nvSpPr>
          <p:spPr>
            <a:xfrm>
              <a:off x="5431716" y="2968797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400" dirty="0"/>
                <a:t>手法③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2824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226</Words>
  <Application>Microsoft Office PowerPoint</Application>
  <PresentationFormat>ワイド画面</PresentationFormat>
  <Paragraphs>110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正祐 板東</dc:creator>
  <cp:lastModifiedBy>正祐 板東</cp:lastModifiedBy>
  <cp:revision>4</cp:revision>
  <dcterms:created xsi:type="dcterms:W3CDTF">2025-09-27T13:40:22Z</dcterms:created>
  <dcterms:modified xsi:type="dcterms:W3CDTF">2025-09-28T16:07:31Z</dcterms:modified>
</cp:coreProperties>
</file>